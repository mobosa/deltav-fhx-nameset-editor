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大家好，今天我为大家介绍 DeltaV FHX Nameset Editor —— 一个专门用于 FHX 配置文件中英文 Nameset 迁移的工程工具。这个工具由 Emerson Electric 的 Jared.Ji 开发，旨在解决 DeltaV DCS 系统在中英文环境间迁移时遇到的配置翻译难题。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为什么我们需要这个工具？在实际工程中，DeltaV DCS 系统经常需要在中国工厂和英文环境之间迁移 FHX 配置文件。这些文件包含多种元素类型：ENUMERATION_SET、STRING_VALUE、表达式引用、报警信息和优先级名称，总计涉及五大类元素。手动逐个翻译不仅耗时巨大，而且极易出错和遗漏。因此，我们需要一个自动化、准确的中英文双向翻译工具来解决这个痛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这个工具采用简洁的两步工作流。第一步，将 FHX 文件与 Setup 参考文件进行对比，提取并比较五类元素的差异，输出一份带颜色编码的 Excel 差异报告。第二步，用户在 Excel 中确认翻译决策后，工具自动读取编辑后的 Excel，严格验证数据，然后生成包含所有翻译内容的新 FHX 文件。整个流程的核心价值在于：自动翻译、精确对比、安全验证。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让我们详细看第一步。用户需要提供两个输入文件：目标 FHX 文件和 New Database.fhx 这个 Setup 参考文件。工具会自动提取并对比 ENUMERATION_SET、STRING_VALUE、表达式引用、报警信息和优先级名称这五类元素。输出的 Excel 文件采用颜色编码：绿色表示两端均存在，红色表示仅 FHX 有，黄色表示需要关注，浅蓝色表示建议的新值。用户可以在 Excel 中编辑 New Value 列，然后进入下一步。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第二步是生成新 FHX。用户需要提供三个输入文件：原始 FHX、Setup 文件和编辑后的 Excel。工具首先执行严格的 Excel 验证，包括检测 Excel 公式、校验格式、检查重复 VALUE 编号和空名称字段。验证通过后，工具执行翻译替换：替换 ENTRY NAME、STRING_VALUE、表达式引用，翻译报警字段（DESCRIPTION、ALARM_WORD、MESSAGE、CATEGORY），更新 PRIORITY_NAME，并从 Setup 文件替换 LOCALE。最终输出文件名自动添加 _NEW 后缀。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这是工具的图形用户界面。基于 tkinter 框架构建，窗口尺寸 900×750 像素。界面分为两个区域：Step 1 区域包含 FHX 文件和 Setup 文件的选择器，以及蓝色的 Compare and Export Excel 按钮；Step 2 区域包含三个文件选择器和绿色的 Generate New FHX 按钮。界面底部有实时进度条和 Consolas 字体的日志输出区域。所有长时间操作都在后台线程执行，确保界面不会卡顿。此外，工具还支持 CLI 命令行模式。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技术架构方面，这个工具采用 Python 3.13 开发，使用 tkinter 构建图形界面，openpyxl 处理 Excel 读写，PyInstaller 打包为独立可执行文件。整个应用仅 1,904 行代码，全部在一个 Python 文件中。架构分为四层：GUI 层负责用户交互，Core Engine 核心引擎负责 FHX 解析、对比、翻译和生成，I/O 层处理文件读写和验证，Translation Dictionary 内置标准 DeltaV 系统 Nameset 翻译字典。工具同时支持 GUI 和 CLI 两种运行模式。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核心功能包括六大方面。第一，内置双向翻译字典，覆盖 $phase_state、$recipe_state 等常见 DeltaV 系统 Nameset。第二，颜色编码对比输出，让差异一目了然。第三，严格 Excel 验证，在生成前拦截错误。第四，全面覆盖五类 FHX 元素。第五，GUI 和 CLI 双模式运行，灵活适应不同场景。第六，单文件部署，拷贝即用，零门槛使用。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Excel 输出采用多 Sheet 结构，包括 Namesets、String Values、Expression Refs、Alarms 和 Priority 五个工作表。颜色编码系统直观展示差异状态：绿色表示匹配，红色表示仅 FHX 存在，黄色表示需要确认，浅蓝色表示建议的新值。这种可视化的差异标记方式，让工程人员能够快速定位需要处理的内容，大幅提升翻译效率。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部署非常轻量。通过 PyInstaller 的 --onefile --windowed 模式，整个应用被打包为单个 .exe 文件。用户无需安装 Python 或任何外部依赖，拷贝即可使用。源码仅一个 Python 文件加一个构建配置文件，易于维护。运行方式也很简单：直接运行 exe 启动 GUI，或通过命令行参数使用 compare 和 generate 子命令。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总结一下，DeltaV FHX Nameset Editor 解决了 DeltaV DCS 中英文 FHX 配置迁移的核心痛点，采用两步工作流实现自动化翻译，全面覆盖五类 FHX 元素，严格数据验证保障完整性，零门槛部署。整个工具仅 1,904 行代码、1 个 Python 文件、5 类元素支持、0 个外部依赖。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感谢大家的聆听。如果有任何问题，欢迎提问。工具的作者是 Emerson Electric 的 Jared.Ji，GitHub 仓库地址为 mobosa/delta-v-fhx-nameset-editor。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ca300ee870a9d95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ca300ee870a9d95.pn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A5C"/>
              </a:gs>
              <a:gs pos="100000">
                <a:srgbClr val="2D5A87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762000"/>
            <a:ext cx="3810000" cy="38100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381000"/>
            <a:ext cx="2286000" cy="2286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90500" y="4191000"/>
            <a:ext cx="3048000" cy="3048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429000" y="2952750"/>
            <a:ext cx="533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72C4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308393" y="2213610"/>
            <a:ext cx="75752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60876" y="3234690"/>
            <a:ext cx="42702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B0C4DE"/>
                </a:solidFill>
                <a:latin typeface="Arial"/>
                <a:ea typeface="Microsoft YaHei"/>
                <a:cs typeface="Arial"/>
              </a:rPr>
              <a:t>FHX 配置文件中英文 Nameset 迁移工具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16627" y="3966210"/>
            <a:ext cx="21587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A8C8"/>
                </a:solidFill>
                <a:latin typeface="Arial"/>
                <a:ea typeface="Microsoft YaHei"/>
                <a:cs typeface="Arial"/>
              </a:rPr>
              <a:t>Jared.Ji | Emerson Electric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0" y="4381500"/>
            <a:ext cx="30480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28646" y="4649152"/>
            <a:ext cx="334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BAE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5143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327660"/>
            <a:ext cx="38490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为什么需要这个工具？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762000"/>
            <a:ext cx="762000" cy="28575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762000" y="1143000"/>
            <a:ext cx="4762500" cy="4381500"/>
            <a:chOff x="762000" y="1143000"/>
            <a:chExt cx="4762500" cy="4381500"/>
          </a:xfrm>
        </p:grpSpPr>
        <p:grpSp>
          <p:nvGrpSpPr>
            <p:cNvPr id="15" name="Group 15"/>
            <p:cNvGrpSpPr/>
            <p:nvPr/>
          </p:nvGrpSpPr>
          <p:grpSpPr>
            <a:xfrm>
              <a:off x="762000" y="1143000"/>
              <a:ext cx="4762500" cy="952500"/>
              <a:chOff x="762000" y="1143000"/>
              <a:chExt cx="4762500" cy="952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143000"/>
                <a:ext cx="4762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018690" y="1393384"/>
                <a:ext cx="222668" cy="302469"/>
                <a:chOff x="1018690" y="1393384"/>
                <a:chExt cx="222668" cy="302469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038225" y="1438273"/>
                  <a:ext cx="143438" cy="143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38" h="143978">
                      <a:moveTo>
                        <a:pt x="71438" y="2"/>
                      </a:moveTo>
                      <a:cubicBezTo>
                        <a:pt x="110489" y="0"/>
                        <a:pt x="142305" y="31356"/>
                        <a:pt x="142872" y="70403"/>
                      </a:cubicBezTo>
                      <a:cubicBezTo>
                        <a:pt x="143438" y="109450"/>
                        <a:pt x="112545" y="141716"/>
                        <a:pt x="73510" y="142847"/>
                      </a:cubicBezTo>
                      <a:cubicBezTo>
                        <a:pt x="34475" y="143978"/>
                        <a:pt x="1766" y="113555"/>
                        <a:pt x="71" y="74540"/>
                      </a:cubicBezTo>
                      <a:lnTo>
                        <a:pt x="0" y="71440"/>
                      </a:lnTo>
                      <a:lnTo>
                        <a:pt x="71" y="68339"/>
                      </a:lnTo>
                      <a:cubicBezTo>
                        <a:pt x="1731" y="30129"/>
                        <a:pt x="33191" y="4"/>
                        <a:pt x="71437" y="2"/>
                      </a:cubicBez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018690" y="1393384"/>
                  <a:ext cx="222668" cy="253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68" h="253331">
                      <a:moveTo>
                        <a:pt x="135736" y="9200"/>
                      </a:moveTo>
                      <a:cubicBezTo>
                        <a:pt x="139666" y="2360"/>
                        <a:pt x="148396" y="0"/>
                        <a:pt x="155238" y="3928"/>
                      </a:cubicBezTo>
                      <a:cubicBezTo>
                        <a:pt x="197719" y="28345"/>
                        <a:pt x="222668" y="74750"/>
                        <a:pt x="219604" y="123653"/>
                      </a:cubicBezTo>
                      <a:cubicBezTo>
                        <a:pt x="216541" y="172555"/>
                        <a:pt x="185995" y="215484"/>
                        <a:pt x="140799" y="234407"/>
                      </a:cubicBezTo>
                      <a:cubicBezTo>
                        <a:pt x="95602" y="253331"/>
                        <a:pt x="43583" y="244971"/>
                        <a:pt x="6591" y="212840"/>
                      </a:cubicBezTo>
                      <a:cubicBezTo>
                        <a:pt x="633" y="207664"/>
                        <a:pt x="0" y="198638"/>
                        <a:pt x="5176" y="192680"/>
                      </a:cubicBezTo>
                      <a:cubicBezTo>
                        <a:pt x="10353" y="186723"/>
                        <a:pt x="19378" y="186090"/>
                        <a:pt x="25336" y="191266"/>
                      </a:cubicBezTo>
                      <a:cubicBezTo>
                        <a:pt x="54121" y="216268"/>
                        <a:pt x="94599" y="222773"/>
                        <a:pt x="129768" y="208048"/>
                      </a:cubicBezTo>
                      <a:cubicBezTo>
                        <a:pt x="164938" y="193323"/>
                        <a:pt x="188706" y="159919"/>
                        <a:pt x="191091" y="121866"/>
                      </a:cubicBezTo>
                      <a:cubicBezTo>
                        <a:pt x="193476" y="83813"/>
                        <a:pt x="174063" y="47703"/>
                        <a:pt x="141008" y="28703"/>
                      </a:cubicBezTo>
                      <a:cubicBezTo>
                        <a:pt x="134167" y="24772"/>
                        <a:pt x="131807" y="16042"/>
                        <a:pt x="135736" y="9200"/>
                      </a:cubicBez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95375" y="1609725"/>
                  <a:ext cx="28575" cy="86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86128">
                      <a:moveTo>
                        <a:pt x="14288" y="0"/>
                      </a:moveTo>
                      <a:cubicBezTo>
                        <a:pt x="21531" y="1"/>
                        <a:pt x="27628" y="5422"/>
                        <a:pt x="28475" y="12616"/>
                      </a:cubicBezTo>
                      <a:lnTo>
                        <a:pt x="28575" y="14288"/>
                      </a:lnTo>
                      <a:lnTo>
                        <a:pt x="28575" y="71438"/>
                      </a:lnTo>
                      <a:cubicBezTo>
                        <a:pt x="28567" y="78997"/>
                        <a:pt x="22671" y="85242"/>
                        <a:pt x="15125" y="85685"/>
                      </a:cubicBezTo>
                      <a:cubicBezTo>
                        <a:pt x="7578" y="86128"/>
                        <a:pt x="993" y="80616"/>
                        <a:pt x="100" y="73109"/>
                      </a:cubicBezTo>
                      <a:lnTo>
                        <a:pt x="0" y="71438"/>
                      </a:ln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37822" y="1666875"/>
                  <a:ext cx="14368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680" h="28575">
                      <a:moveTo>
                        <a:pt x="128990" y="0"/>
                      </a:moveTo>
                      <a:cubicBezTo>
                        <a:pt x="136550" y="8"/>
                        <a:pt x="142794" y="5904"/>
                        <a:pt x="143237" y="13450"/>
                      </a:cubicBezTo>
                      <a:cubicBezTo>
                        <a:pt x="143680" y="20997"/>
                        <a:pt x="138168" y="27582"/>
                        <a:pt x="130662" y="28475"/>
                      </a:cubicBezTo>
                      <a:lnTo>
                        <a:pt x="128990" y="28575"/>
                      </a:lnTo>
                      <a:lnTo>
                        <a:pt x="14690" y="28575"/>
                      </a:lnTo>
                      <a:cubicBezTo>
                        <a:pt x="7131" y="28567"/>
                        <a:pt x="886" y="22671"/>
                        <a:pt x="443" y="15125"/>
                      </a:cubicBezTo>
                      <a:cubicBezTo>
                        <a:pt x="0" y="7578"/>
                        <a:pt x="5512" y="993"/>
                        <a:pt x="13018" y="100"/>
                      </a:cubicBezTo>
                      <a:lnTo>
                        <a:pt x="14690" y="0"/>
                      </a:lnTo>
                      <a:lnTo>
                        <a:pt x="128990" y="0"/>
                      </a:ln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411605" y="1330642"/>
                <a:ext cx="178275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跨区域 DCS 系统迁移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4462" y="1593056"/>
                <a:ext cx="27814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DeltaV 系统在中国和英文环境间需要迁移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14462" y="1783556"/>
                <a:ext cx="92118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FHX 配置文件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62000" y="2286000"/>
              <a:ext cx="4762500" cy="952500"/>
              <a:chOff x="762000" y="2286000"/>
              <a:chExt cx="4762500" cy="952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2286000"/>
                <a:ext cx="4762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995362" y="2548377"/>
                <a:ext cx="275860" cy="275785"/>
                <a:chOff x="995362" y="2548377"/>
                <a:chExt cx="275860" cy="27578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995362" y="2609850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71438" y="14288"/>
                      </a:moveTo>
                      <a:cubicBezTo>
                        <a:pt x="71438" y="22178"/>
                        <a:pt x="65041" y="28575"/>
                        <a:pt x="57150" y="28575"/>
                      </a:cubicBezTo>
                      <a:lnTo>
                        <a:pt x="42862" y="28575"/>
                      </a:lnTo>
                      <a:cubicBezTo>
                        <a:pt x="34972" y="28575"/>
                        <a:pt x="28575" y="34972"/>
                        <a:pt x="28575" y="42862"/>
                      </a:cubicBezTo>
                      <a:lnTo>
                        <a:pt x="28575" y="171450"/>
                      </a:lnTo>
                      <a:cubicBezTo>
                        <a:pt x="28575" y="179341"/>
                        <a:pt x="34972" y="185738"/>
                        <a:pt x="42862" y="185738"/>
                      </a:cubicBezTo>
                      <a:lnTo>
                        <a:pt x="171450" y="185738"/>
                      </a:lnTo>
                      <a:cubicBezTo>
                        <a:pt x="179341" y="185738"/>
                        <a:pt x="185738" y="179341"/>
                        <a:pt x="185738" y="171450"/>
                      </a:cubicBezTo>
                      <a:lnTo>
                        <a:pt x="185738" y="157162"/>
                      </a:lnTo>
                      <a:cubicBezTo>
                        <a:pt x="185738" y="149272"/>
                        <a:pt x="192134" y="142875"/>
                        <a:pt x="200025" y="142875"/>
                      </a:cubicBezTo>
                      <a:cubicBezTo>
                        <a:pt x="207916" y="142875"/>
                        <a:pt x="214312" y="149272"/>
                        <a:pt x="214312" y="157162"/>
                      </a:cubicBezTo>
                      <a:lnTo>
                        <a:pt x="214312" y="171450"/>
                      </a:lnTo>
                      <a:cubicBezTo>
                        <a:pt x="214312" y="195122"/>
                        <a:pt x="195122" y="214312"/>
                        <a:pt x="171450" y="214312"/>
                      </a:cubicBezTo>
                      <a:lnTo>
                        <a:pt x="42862" y="214312"/>
                      </a:lnTo>
                      <a:cubicBezTo>
                        <a:pt x="19190" y="214312"/>
                        <a:pt x="0" y="195122"/>
                        <a:pt x="0" y="171450"/>
                      </a:cubicBezTo>
                      <a:lnTo>
                        <a:pt x="0" y="42862"/>
                      </a:ln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57150" y="0"/>
                      </a:lnTo>
                      <a:cubicBezTo>
                        <a:pt x="65041" y="0"/>
                        <a:pt x="71438" y="6397"/>
                        <a:pt x="71438" y="14288"/>
                      </a:cubicBezTo>
                    </a:path>
                  </a:pathLst>
                </a:custGeom>
                <a:solidFill>
                  <a:srgbClr val="E53935"/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66800" y="2548377"/>
                  <a:ext cx="204422" cy="204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22" h="204348">
                      <a:moveTo>
                        <a:pt x="94240" y="47343"/>
                      </a:moveTo>
                      <a:lnTo>
                        <a:pt x="156991" y="110094"/>
                      </a:lnTo>
                      <a:lnTo>
                        <a:pt x="67266" y="200148"/>
                      </a:lnTo>
                      <a:cubicBezTo>
                        <a:pt x="64586" y="202836"/>
                        <a:pt x="60946" y="204347"/>
                        <a:pt x="57150" y="204348"/>
                      </a:cubicBezTo>
                      <a:lnTo>
                        <a:pt x="14288" y="204348"/>
                      </a:lnTo>
                      <a:cubicBezTo>
                        <a:pt x="6397" y="204348"/>
                        <a:pt x="0" y="197951"/>
                        <a:pt x="0" y="190061"/>
                      </a:cubicBezTo>
                      <a:lnTo>
                        <a:pt x="0" y="147198"/>
                      </a:lnTo>
                      <a:cubicBezTo>
                        <a:pt x="1" y="143402"/>
                        <a:pt x="1512" y="139763"/>
                        <a:pt x="4201" y="137083"/>
                      </a:cubicBezTo>
                      <a:close/>
                      <a:moveTo>
                        <a:pt x="187052" y="17296"/>
                      </a:moveTo>
                      <a:cubicBezTo>
                        <a:pt x="203395" y="33628"/>
                        <a:pt x="204422" y="59784"/>
                        <a:pt x="189409" y="77347"/>
                      </a:cubicBezTo>
                      <a:lnTo>
                        <a:pt x="187066" y="79918"/>
                      </a:lnTo>
                      <a:lnTo>
                        <a:pt x="177165" y="89834"/>
                      </a:lnTo>
                      <a:lnTo>
                        <a:pt x="114486" y="27155"/>
                      </a:lnTo>
                      <a:lnTo>
                        <a:pt x="124416" y="17296"/>
                      </a:lnTo>
                      <a:cubicBezTo>
                        <a:pt x="141712" y="0"/>
                        <a:pt x="169755" y="0"/>
                        <a:pt x="187052" y="17296"/>
                      </a:cubicBezTo>
                    </a:path>
                  </a:pathLst>
                </a:custGeom>
                <a:solidFill>
                  <a:srgbClr val="E53935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11605" y="2473642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手动翻译耗时且易出错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14462" y="2736056"/>
                <a:ext cx="29314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Nameset 包含多种元素类型，人工逐个翻译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14462" y="29265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效率低下且容易遗漏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62000" y="3429000"/>
              <a:ext cx="4762500" cy="952500"/>
              <a:chOff x="762000" y="3429000"/>
              <a:chExt cx="4762500" cy="952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3429000"/>
                <a:ext cx="4762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69695" y="3682289"/>
                <a:ext cx="298359" cy="300390"/>
              </a:xfrm>
              <a:custGeom>
                <a:avLst/>
                <a:gdLst/>
                <a:ahLst/>
                <a:cxnLst/>
                <a:rect l="l" t="t" r="r" b="b"/>
                <a:pathLst>
                  <a:path w="298359" h="300390">
                    <a:moveTo>
                      <a:pt x="182830" y="28728"/>
                    </a:moveTo>
                    <a:cubicBezTo>
                      <a:pt x="211435" y="45240"/>
                      <a:pt x="231498" y="73318"/>
                      <a:pt x="237852" y="105729"/>
                    </a:cubicBezTo>
                    <a:cubicBezTo>
                      <a:pt x="244206" y="138140"/>
                      <a:pt x="236230" y="171716"/>
                      <a:pt x="215977" y="197806"/>
                    </a:cubicBezTo>
                    <a:lnTo>
                      <a:pt x="292944" y="274773"/>
                    </a:lnTo>
                    <a:cubicBezTo>
                      <a:pt x="298359" y="280379"/>
                      <a:pt x="298281" y="289290"/>
                      <a:pt x="292770" y="294801"/>
                    </a:cubicBezTo>
                    <a:cubicBezTo>
                      <a:pt x="287259" y="300312"/>
                      <a:pt x="278348" y="300390"/>
                      <a:pt x="272742" y="294975"/>
                    </a:cubicBezTo>
                    <a:lnTo>
                      <a:pt x="195760" y="218008"/>
                    </a:lnTo>
                    <a:cubicBezTo>
                      <a:pt x="150383" y="253219"/>
                      <a:pt x="85923" y="249287"/>
                      <a:pt x="45162" y="208821"/>
                    </a:cubicBezTo>
                    <a:cubicBezTo>
                      <a:pt x="4401" y="168356"/>
                      <a:pt x="0" y="103926"/>
                      <a:pt x="34880" y="58294"/>
                    </a:cubicBezTo>
                    <a:cubicBezTo>
                      <a:pt x="69760" y="12661"/>
                      <a:pt x="133086" y="0"/>
                      <a:pt x="182830" y="28713"/>
                    </a:cubicBezTo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411605" y="3616642"/>
                <a:ext cx="162208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涉及 5 类 FHX 元素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14462" y="3879056"/>
                <a:ext cx="25413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ENUMERATION_SET、STRING_VALUE、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14462" y="406955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表达式引用、报警、优先级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62000" y="4572000"/>
              <a:ext cx="4762500" cy="952500"/>
              <a:chOff x="762000" y="4572000"/>
              <a:chExt cx="4762500" cy="952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4572000"/>
                <a:ext cx="4762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980672" y="4838700"/>
                <a:ext cx="286556" cy="285750"/>
                <a:chOff x="980672" y="4838700"/>
                <a:chExt cx="286556" cy="28575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980672" y="4967288"/>
                  <a:ext cx="43668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8" h="28575">
                      <a:moveTo>
                        <a:pt x="28978" y="0"/>
                      </a:moveTo>
                      <a:cubicBezTo>
                        <a:pt x="36537" y="8"/>
                        <a:pt x="42782" y="5904"/>
                        <a:pt x="43225" y="13450"/>
                      </a:cubicBezTo>
                      <a:cubicBezTo>
                        <a:pt x="43668" y="20997"/>
                        <a:pt x="38156" y="27582"/>
                        <a:pt x="30649" y="28475"/>
                      </a:cubicBezTo>
                      <a:lnTo>
                        <a:pt x="28978" y="28575"/>
                      </a:lnTo>
                      <a:lnTo>
                        <a:pt x="14690" y="28575"/>
                      </a:lnTo>
                      <a:cubicBezTo>
                        <a:pt x="7131" y="28567"/>
                        <a:pt x="886" y="22671"/>
                        <a:pt x="443" y="15125"/>
                      </a:cubicBezTo>
                      <a:cubicBezTo>
                        <a:pt x="0" y="7578"/>
                        <a:pt x="5512" y="993"/>
                        <a:pt x="13018" y="100"/>
                      </a:cubicBezTo>
                      <a:lnTo>
                        <a:pt x="14690" y="0"/>
                      </a:lnTo>
                      <a:lnTo>
                        <a:pt x="28978" y="0"/>
                      </a:ln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109662" y="4838700"/>
                  <a:ext cx="28575" cy="43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43265">
                      <a:moveTo>
                        <a:pt x="14288" y="0"/>
                      </a:moveTo>
                      <a:cubicBezTo>
                        <a:pt x="21531" y="1"/>
                        <a:pt x="27628" y="5422"/>
                        <a:pt x="28475" y="12616"/>
                      </a:cubicBezTo>
                      <a:lnTo>
                        <a:pt x="28575" y="14288"/>
                      </a:lnTo>
                      <a:lnTo>
                        <a:pt x="28575" y="28575"/>
                      </a:lnTo>
                      <a:cubicBezTo>
                        <a:pt x="28567" y="36134"/>
                        <a:pt x="22671" y="42379"/>
                        <a:pt x="15125" y="42822"/>
                      </a:cubicBezTo>
                      <a:cubicBezTo>
                        <a:pt x="7578" y="43265"/>
                        <a:pt x="993" y="37753"/>
                        <a:pt x="100" y="30247"/>
                      </a:cubicBezTo>
                      <a:lnTo>
                        <a:pt x="0" y="28575"/>
                      </a:ln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223560" y="4967288"/>
                  <a:ext cx="43668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8" h="28575">
                      <a:moveTo>
                        <a:pt x="28978" y="0"/>
                      </a:moveTo>
                      <a:cubicBezTo>
                        <a:pt x="36537" y="8"/>
                        <a:pt x="42782" y="5904"/>
                        <a:pt x="43225" y="13450"/>
                      </a:cubicBezTo>
                      <a:cubicBezTo>
                        <a:pt x="43668" y="20997"/>
                        <a:pt x="38156" y="27582"/>
                        <a:pt x="30649" y="28475"/>
                      </a:cubicBezTo>
                      <a:lnTo>
                        <a:pt x="28978" y="28575"/>
                      </a:lnTo>
                      <a:lnTo>
                        <a:pt x="14690" y="28575"/>
                      </a:lnTo>
                      <a:cubicBezTo>
                        <a:pt x="7131" y="28567"/>
                        <a:pt x="886" y="22671"/>
                        <a:pt x="443" y="15125"/>
                      </a:cubicBezTo>
                      <a:cubicBezTo>
                        <a:pt x="0" y="7578"/>
                        <a:pt x="5512" y="993"/>
                        <a:pt x="13018" y="100"/>
                      </a:cubicBezTo>
                      <a:lnTo>
                        <a:pt x="14690" y="0"/>
                      </a:lnTo>
                      <a:lnTo>
                        <a:pt x="28978" y="0"/>
                      </a:ln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16831" y="4874436"/>
                  <a:ext cx="41360" cy="41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60" h="41596">
                      <a:moveTo>
                        <a:pt x="5578" y="5598"/>
                      </a:moveTo>
                      <a:cubicBezTo>
                        <a:pt x="10668" y="508"/>
                        <a:pt x="18749" y="0"/>
                        <a:pt x="24437" y="4412"/>
                      </a:cubicBezTo>
                      <a:lnTo>
                        <a:pt x="25780" y="5598"/>
                      </a:lnTo>
                      <a:lnTo>
                        <a:pt x="35781" y="15599"/>
                      </a:lnTo>
                      <a:cubicBezTo>
                        <a:pt x="41099" y="20935"/>
                        <a:pt x="41360" y="29484"/>
                        <a:pt x="36378" y="35134"/>
                      </a:cubicBezTo>
                      <a:cubicBezTo>
                        <a:pt x="31395" y="40785"/>
                        <a:pt x="22882" y="41596"/>
                        <a:pt x="16922" y="36988"/>
                      </a:cubicBezTo>
                      <a:lnTo>
                        <a:pt x="15579" y="35802"/>
                      </a:lnTo>
                      <a:lnTo>
                        <a:pt x="5578" y="25800"/>
                      </a:lnTo>
                      <a:cubicBezTo>
                        <a:pt x="0" y="20221"/>
                        <a:pt x="0" y="11177"/>
                        <a:pt x="5578" y="5598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189493" y="4874455"/>
                  <a:ext cx="41792" cy="41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92" h="41362">
                      <a:moveTo>
                        <a:pt x="15795" y="5579"/>
                      </a:moveTo>
                      <a:cubicBezTo>
                        <a:pt x="21131" y="261"/>
                        <a:pt x="29680" y="0"/>
                        <a:pt x="35330" y="4982"/>
                      </a:cubicBezTo>
                      <a:cubicBezTo>
                        <a:pt x="40981" y="9965"/>
                        <a:pt x="41792" y="18479"/>
                        <a:pt x="37184" y="24438"/>
                      </a:cubicBezTo>
                      <a:lnTo>
                        <a:pt x="35998" y="25782"/>
                      </a:lnTo>
                      <a:lnTo>
                        <a:pt x="25997" y="35783"/>
                      </a:lnTo>
                      <a:cubicBezTo>
                        <a:pt x="20661" y="41101"/>
                        <a:pt x="12112" y="41362"/>
                        <a:pt x="6462" y="36379"/>
                      </a:cubicBezTo>
                      <a:cubicBezTo>
                        <a:pt x="811" y="31397"/>
                        <a:pt x="0" y="22883"/>
                        <a:pt x="4608" y="16923"/>
                      </a:cubicBezTo>
                      <a:lnTo>
                        <a:pt x="5794" y="15580"/>
                      </a:lnTo>
                      <a:lnTo>
                        <a:pt x="15795" y="5579"/>
                      </a:ln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81088" y="5067300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71438" y="0"/>
                      </a:moveTo>
                      <a:cubicBezTo>
                        <a:pt x="79328" y="0"/>
                        <a:pt x="85725" y="6397"/>
                        <a:pt x="85725" y="14288"/>
                      </a:cubicBezTo>
                      <a:cubicBezTo>
                        <a:pt x="85725" y="37960"/>
                        <a:pt x="66535" y="57150"/>
                        <a:pt x="42862" y="57150"/>
                      </a:cubicBezTo>
                      <a:cubicBezTo>
                        <a:pt x="19190" y="57150"/>
                        <a:pt x="0" y="37960"/>
                        <a:pt x="0" y="14288"/>
                      </a:cubicBezTo>
                      <a:cubicBezTo>
                        <a:pt x="1" y="7044"/>
                        <a:pt x="5422" y="947"/>
                        <a:pt x="12616" y="100"/>
                      </a:cubicBezTo>
                      <a:lnTo>
                        <a:pt x="14288" y="0"/>
                      </a:lnTo>
                      <a:lnTo>
                        <a:pt x="71438" y="0"/>
                      </a:ln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30956" y="4895850"/>
                  <a:ext cx="185989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89" h="157162">
                      <a:moveTo>
                        <a:pt x="92994" y="0"/>
                      </a:moveTo>
                      <a:cubicBezTo>
                        <a:pt x="129893" y="0"/>
                        <a:pt x="162652" y="23611"/>
                        <a:pt x="174320" y="58616"/>
                      </a:cubicBezTo>
                      <a:cubicBezTo>
                        <a:pt x="185989" y="93622"/>
                        <a:pt x="173948" y="132166"/>
                        <a:pt x="144429" y="154305"/>
                      </a:cubicBezTo>
                      <a:cubicBezTo>
                        <a:pt x="142460" y="155784"/>
                        <a:pt x="140142" y="156729"/>
                        <a:pt x="137700" y="157048"/>
                      </a:cubicBezTo>
                      <a:lnTo>
                        <a:pt x="135857" y="157162"/>
                      </a:lnTo>
                      <a:lnTo>
                        <a:pt x="50132" y="157162"/>
                      </a:lnTo>
                      <a:cubicBezTo>
                        <a:pt x="47040" y="157162"/>
                        <a:pt x="44032" y="156160"/>
                        <a:pt x="41559" y="154305"/>
                      </a:cubicBezTo>
                      <a:cubicBezTo>
                        <a:pt x="12040" y="132166"/>
                        <a:pt x="0" y="93622"/>
                        <a:pt x="11668" y="58616"/>
                      </a:cubicBezTo>
                      <a:cubicBezTo>
                        <a:pt x="23337" y="23611"/>
                        <a:pt x="56096" y="0"/>
                        <a:pt x="92994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1411605" y="4759642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需要自动化中英文双向翻译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414462" y="5022056"/>
                <a:ext cx="29239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内置标准 DeltaV 系统 Nameset 翻译字典，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414462" y="5212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确保翻译准确性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5905500" y="1143000"/>
            <a:ext cx="5524500" cy="4381500"/>
            <a:chOff x="5905500" y="1143000"/>
            <a:chExt cx="5524500" cy="4381500"/>
          </a:xfrm>
        </p:grpSpPr>
        <p:sp>
          <p:nvSpPr>
            <p:cNvPr id="44" name="Rectangle 44"/>
            <p:cNvSpPr/>
            <p:nvPr/>
          </p:nvSpPr>
          <p:spPr>
            <a:xfrm>
              <a:off x="5905500" y="1143000"/>
              <a:ext cx="5524500" cy="4381500"/>
            </a:xfrm>
            <a:prstGeom prst="roundRect">
              <a:avLst>
                <a:gd name="adj" fmla="val 2609"/>
              </a:avLst>
            </a:prstGeom>
            <a:solidFill>
              <a:srgbClr val="1B3A5C"/>
            </a:solidFill>
            <a:ln>
              <a:noFill/>
            </a:ln>
            <a:effectLst>
              <a:outerShdw blurRad="114300" dist="28575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8152648" y="1680210"/>
              <a:ext cx="1030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FHX 配置文件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86500" y="200025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D5A8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65570" y="2093595"/>
              <a:ext cx="1991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A8C8"/>
                  </a:solidFill>
                  <a:latin typeface="Consolas"/>
                  <a:ea typeface="Microsoft YaHei"/>
                  <a:cs typeface="Consolas"/>
                </a:rPr>
                <a:t>ENUMERATION_SET "$phase_state"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86500" y="238125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43D5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65570" y="2474595"/>
              <a:ext cx="15230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A8C8"/>
                  </a:solidFill>
                  <a:latin typeface="Consolas"/>
                  <a:ea typeface="Microsoft YaHei"/>
                  <a:cs typeface="Consolas"/>
                </a:rPr>
                <a:t>ENTRY NAME "运行" VALUE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86500" y="276225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D5A8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65570" y="2855595"/>
              <a:ext cx="1553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A8C8"/>
                  </a:solidFill>
                  <a:latin typeface="Consolas"/>
                  <a:ea typeface="Microsoft YaHei"/>
                  <a:cs typeface="Consolas"/>
                </a:rPr>
                <a:t>ENTRY NAME "停止" VALUE 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86500" y="314325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43D5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65570" y="3236595"/>
              <a:ext cx="16730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A8C8"/>
                  </a:solidFill>
                  <a:latin typeface="Consolas"/>
                  <a:ea typeface="Microsoft YaHei"/>
                  <a:cs typeface="Consolas"/>
                </a:rPr>
                <a:t>STRING_VALUE "中文报警描述"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85356" y="3696652"/>
              <a:ext cx="9647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↓ 需要翻译为 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86500" y="400050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D5A8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65570" y="4093845"/>
              <a:ext cx="1715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ENTRY NAME "Running" VALUE 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86500" y="438150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43D5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65570" y="4474845"/>
              <a:ext cx="17750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ENTRY NAME "Stopped" VALUE 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86500" y="4762500"/>
              <a:ext cx="4762500" cy="285750"/>
            </a:xfrm>
            <a:prstGeom prst="roundRect">
              <a:avLst>
                <a:gd name="adj" fmla="val 13333"/>
              </a:avLst>
            </a:prstGeom>
            <a:solidFill>
              <a:srgbClr val="2D5A8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65570" y="4855845"/>
              <a:ext cx="19791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STRING_VALUE "Alarm description"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982450" y="375285"/>
            <a:ext cx="42271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B3A5C"/>
                </a:solidFill>
                <a:latin typeface="Arial"/>
                <a:ea typeface="Microsoft YaHei"/>
                <a:cs typeface="Arial"/>
              </a:rPr>
              <a:t>解决方案：两步完成迁移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60608" y="822960"/>
            <a:ext cx="2470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对比导出 → 编辑确认 → 生成新 FHX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762000" y="1524000"/>
            <a:ext cx="10858500" cy="4586288"/>
            <a:chOff x="762000" y="1524000"/>
            <a:chExt cx="10858500" cy="4586288"/>
          </a:xfrm>
        </p:grpSpPr>
        <p:sp>
          <p:nvSpPr>
            <p:cNvPr id="5" name="Rectangle 5"/>
            <p:cNvSpPr/>
            <p:nvPr/>
          </p:nvSpPr>
          <p:spPr>
            <a:xfrm>
              <a:off x="762000" y="1524000"/>
              <a:ext cx="4953000" cy="3429000"/>
            </a:xfrm>
            <a:prstGeom prst="roundRect">
              <a:avLst>
                <a:gd name="adj" fmla="val 4444"/>
              </a:avLst>
            </a:prstGeom>
            <a:solidFill>
              <a:srgbClr val="F3F4F6"/>
            </a:solidFill>
            <a:ln>
              <a:noFill/>
            </a:ln>
            <a:effectLst>
              <a:outerShdw blurRad="95250" dist="28575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762000" y="1524000"/>
              <a:ext cx="4953000" cy="476250"/>
            </a:xfrm>
            <a:prstGeom prst="roundRect">
              <a:avLst>
                <a:gd name="adj" fmla="val 32000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809750"/>
              <a:ext cx="4953000" cy="1905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61147" y="1692592"/>
              <a:ext cx="29547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Step 1 — Compare FHX with Setup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2510" y="22517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524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81099" y="2609850"/>
              <a:ext cx="152402" cy="190501"/>
            </a:xfrm>
            <a:custGeom>
              <a:avLst/>
              <a:gdLst/>
              <a:ahLst/>
              <a:cxnLst/>
              <a:rect l="l" t="t" r="r" b="b"/>
              <a:pathLst>
                <a:path w="152402" h="190501">
                  <a:moveTo>
                    <a:pt x="76201" y="0"/>
                  </a:moveTo>
                  <a:lnTo>
                    <a:pt x="77315" y="67"/>
                  </a:lnTo>
                  <a:cubicBezTo>
                    <a:pt x="81692" y="583"/>
                    <a:pt x="85143" y="4034"/>
                    <a:pt x="85659" y="8411"/>
                  </a:cubicBezTo>
                  <a:lnTo>
                    <a:pt x="85726" y="9525"/>
                  </a:lnTo>
                  <a:lnTo>
                    <a:pt x="85726" y="47625"/>
                  </a:lnTo>
                  <a:lnTo>
                    <a:pt x="85773" y="49054"/>
                  </a:lnTo>
                  <a:cubicBezTo>
                    <a:pt x="86478" y="58425"/>
                    <a:pt x="93911" y="65883"/>
                    <a:pt x="103280" y="66618"/>
                  </a:cubicBezTo>
                  <a:lnTo>
                    <a:pt x="104776" y="66675"/>
                  </a:lnTo>
                  <a:lnTo>
                    <a:pt x="142876" y="66675"/>
                  </a:lnTo>
                  <a:lnTo>
                    <a:pt x="143990" y="66742"/>
                  </a:lnTo>
                  <a:cubicBezTo>
                    <a:pt x="148367" y="67258"/>
                    <a:pt x="151818" y="70709"/>
                    <a:pt x="152334" y="75086"/>
                  </a:cubicBezTo>
                  <a:lnTo>
                    <a:pt x="152401" y="76200"/>
                  </a:lnTo>
                  <a:lnTo>
                    <a:pt x="152401" y="161925"/>
                  </a:lnTo>
                  <a:cubicBezTo>
                    <a:pt x="152402" y="177056"/>
                    <a:pt x="140607" y="189565"/>
                    <a:pt x="125502" y="190452"/>
                  </a:cubicBezTo>
                  <a:lnTo>
                    <a:pt x="123826" y="190500"/>
                  </a:lnTo>
                  <a:lnTo>
                    <a:pt x="28576" y="190500"/>
                  </a:lnTo>
                  <a:cubicBezTo>
                    <a:pt x="13445" y="190501"/>
                    <a:pt x="936" y="178706"/>
                    <a:pt x="48" y="163601"/>
                  </a:cubicBezTo>
                  <a:lnTo>
                    <a:pt x="1" y="161925"/>
                  </a:lnTo>
                  <a:lnTo>
                    <a:pt x="1" y="28575"/>
                  </a:lnTo>
                  <a:cubicBezTo>
                    <a:pt x="0" y="13444"/>
                    <a:pt x="11794" y="935"/>
                    <a:pt x="26899" y="48"/>
                  </a:cubicBezTo>
                  <a:lnTo>
                    <a:pt x="28576" y="0"/>
                  </a:lnTo>
                  <a:close/>
                  <a:moveTo>
                    <a:pt x="84716" y="81467"/>
                  </a:moveTo>
                  <a:cubicBezTo>
                    <a:pt x="83101" y="78245"/>
                    <a:pt x="79805" y="76210"/>
                    <a:pt x="76201" y="76210"/>
                  </a:cubicBezTo>
                  <a:cubicBezTo>
                    <a:pt x="72596" y="76210"/>
                    <a:pt x="69301" y="78245"/>
                    <a:pt x="67685" y="81467"/>
                  </a:cubicBezTo>
                  <a:lnTo>
                    <a:pt x="39110" y="138617"/>
                  </a:lnTo>
                  <a:cubicBezTo>
                    <a:pt x="37635" y="141569"/>
                    <a:pt x="37793" y="145074"/>
                    <a:pt x="39528" y="147881"/>
                  </a:cubicBezTo>
                  <a:cubicBezTo>
                    <a:pt x="41262" y="150689"/>
                    <a:pt x="44326" y="152398"/>
                    <a:pt x="47626" y="152400"/>
                  </a:cubicBezTo>
                  <a:lnTo>
                    <a:pt x="104776" y="152400"/>
                  </a:lnTo>
                  <a:cubicBezTo>
                    <a:pt x="108076" y="152398"/>
                    <a:pt x="111140" y="150689"/>
                    <a:pt x="112874" y="147881"/>
                  </a:cubicBezTo>
                  <a:cubicBezTo>
                    <a:pt x="114608" y="145074"/>
                    <a:pt x="114766" y="141569"/>
                    <a:pt x="113291" y="138617"/>
                  </a:cubicBezTo>
                  <a:close/>
                  <a:moveTo>
                    <a:pt x="76201" y="107023"/>
                  </a:moveTo>
                  <a:lnTo>
                    <a:pt x="89355" y="133350"/>
                  </a:lnTo>
                  <a:lnTo>
                    <a:pt x="63037" y="133350"/>
                  </a:lnTo>
                  <a:close/>
                  <a:moveTo>
                    <a:pt x="104766" y="9515"/>
                  </a:moveTo>
                  <a:lnTo>
                    <a:pt x="142876" y="47625"/>
                  </a:lnTo>
                  <a:lnTo>
                    <a:pt x="104776" y="47625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4465" y="2648902"/>
              <a:ext cx="579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D2D"/>
                  </a:solidFill>
                  <a:latin typeface="Arial"/>
                  <a:ea typeface="Microsoft YaHei"/>
                  <a:cs typeface="Arial"/>
                </a:rPr>
                <a:t>FHX 文件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43250" y="2524125"/>
              <a:ext cx="2286000" cy="381000"/>
            </a:xfrm>
            <a:prstGeom prst="roundRect">
              <a:avLst>
                <a:gd name="adj" fmla="val 20000"/>
              </a:avLst>
            </a:prstGeom>
            <a:solidFill>
              <a:srgbClr val="F3F4F6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267074" y="2609850"/>
              <a:ext cx="171451" cy="190500"/>
              <a:chOff x="3267074" y="2609850"/>
              <a:chExt cx="171451" cy="190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267075" y="2740638"/>
                <a:ext cx="171450" cy="5971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9712">
                    <a:moveTo>
                      <a:pt x="0" y="0"/>
                    </a:moveTo>
                    <a:cubicBezTo>
                      <a:pt x="18745" y="14354"/>
                      <a:pt x="49854" y="21612"/>
                      <a:pt x="85725" y="21612"/>
                    </a:cubicBezTo>
                    <a:cubicBezTo>
                      <a:pt x="121539" y="21612"/>
                      <a:pt x="152638" y="14373"/>
                      <a:pt x="171450" y="162"/>
                    </a:cubicBezTo>
                    <a:lnTo>
                      <a:pt x="171450" y="21612"/>
                    </a:lnTo>
                    <a:cubicBezTo>
                      <a:pt x="171450" y="44710"/>
                      <a:pt x="134350" y="59103"/>
                      <a:pt x="88649" y="59693"/>
                    </a:cubicBezTo>
                    <a:lnTo>
                      <a:pt x="85725" y="59712"/>
                    </a:lnTo>
                    <a:cubicBezTo>
                      <a:pt x="38691" y="59712"/>
                      <a:pt x="0" y="45206"/>
                      <a:pt x="0" y="21612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267075" y="2683488"/>
                <a:ext cx="171450" cy="5971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9712">
                    <a:moveTo>
                      <a:pt x="0" y="0"/>
                    </a:moveTo>
                    <a:cubicBezTo>
                      <a:pt x="18745" y="14354"/>
                      <a:pt x="49854" y="21612"/>
                      <a:pt x="85725" y="21612"/>
                    </a:cubicBezTo>
                    <a:cubicBezTo>
                      <a:pt x="121539" y="21612"/>
                      <a:pt x="152638" y="14373"/>
                      <a:pt x="171450" y="162"/>
                    </a:cubicBezTo>
                    <a:lnTo>
                      <a:pt x="171450" y="21612"/>
                    </a:lnTo>
                    <a:cubicBezTo>
                      <a:pt x="171450" y="45206"/>
                      <a:pt x="132759" y="59712"/>
                      <a:pt x="85725" y="59712"/>
                    </a:cubicBezTo>
                    <a:cubicBezTo>
                      <a:pt x="40024" y="59712"/>
                      <a:pt x="2191" y="46015"/>
                      <a:pt x="200" y="23565"/>
                    </a:cubicBezTo>
                    <a:lnTo>
                      <a:pt x="48" y="22603"/>
                    </a:lnTo>
                    <a:lnTo>
                      <a:pt x="0" y="21612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267074" y="2609850"/>
                <a:ext cx="171451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1" h="76200">
                    <a:moveTo>
                      <a:pt x="85726" y="0"/>
                    </a:moveTo>
                    <a:cubicBezTo>
                      <a:pt x="95641" y="0"/>
                      <a:pt x="105195" y="648"/>
                      <a:pt x="114082" y="1886"/>
                    </a:cubicBezTo>
                    <a:lnTo>
                      <a:pt x="118549" y="2562"/>
                    </a:lnTo>
                    <a:cubicBezTo>
                      <a:pt x="123883" y="3451"/>
                      <a:pt x="128918" y="4556"/>
                      <a:pt x="133656" y="5877"/>
                    </a:cubicBezTo>
                    <a:lnTo>
                      <a:pt x="137847" y="7125"/>
                    </a:lnTo>
                    <a:lnTo>
                      <a:pt x="138561" y="7353"/>
                    </a:lnTo>
                    <a:cubicBezTo>
                      <a:pt x="141153" y="8206"/>
                      <a:pt x="143711" y="9159"/>
                      <a:pt x="146229" y="10211"/>
                    </a:cubicBezTo>
                    <a:lnTo>
                      <a:pt x="148124" y="11030"/>
                    </a:lnTo>
                    <a:cubicBezTo>
                      <a:pt x="151521" y="12567"/>
                      <a:pt x="154591" y="14249"/>
                      <a:pt x="157335" y="16078"/>
                    </a:cubicBezTo>
                    <a:cubicBezTo>
                      <a:pt x="158382" y="16777"/>
                      <a:pt x="159376" y="17491"/>
                      <a:pt x="160316" y="18221"/>
                    </a:cubicBezTo>
                    <a:cubicBezTo>
                      <a:pt x="162697" y="20069"/>
                      <a:pt x="164837" y="22206"/>
                      <a:pt x="166688" y="24584"/>
                    </a:cubicBezTo>
                    <a:lnTo>
                      <a:pt x="167555" y="25803"/>
                    </a:lnTo>
                    <a:cubicBezTo>
                      <a:pt x="168000" y="26470"/>
                      <a:pt x="168409" y="27140"/>
                      <a:pt x="168784" y="27813"/>
                    </a:cubicBezTo>
                    <a:lnTo>
                      <a:pt x="169450" y="29137"/>
                    </a:lnTo>
                    <a:cubicBezTo>
                      <a:pt x="170486" y="31359"/>
                      <a:pt x="171121" y="33677"/>
                      <a:pt x="171355" y="36090"/>
                    </a:cubicBezTo>
                    <a:lnTo>
                      <a:pt x="171451" y="38100"/>
                    </a:lnTo>
                    <a:cubicBezTo>
                      <a:pt x="171451" y="61693"/>
                      <a:pt x="132760" y="76200"/>
                      <a:pt x="85726" y="76200"/>
                    </a:cubicBezTo>
                    <a:cubicBezTo>
                      <a:pt x="40025" y="76200"/>
                      <a:pt x="2191" y="62503"/>
                      <a:pt x="201" y="40053"/>
                    </a:cubicBezTo>
                    <a:cubicBezTo>
                      <a:pt x="67" y="39410"/>
                      <a:pt x="0" y="38756"/>
                      <a:pt x="1" y="38100"/>
                    </a:cubicBezTo>
                    <a:lnTo>
                      <a:pt x="48" y="37109"/>
                    </a:lnTo>
                    <a:lnTo>
                      <a:pt x="201" y="36157"/>
                    </a:lnTo>
                    <a:cubicBezTo>
                      <a:pt x="2153" y="14192"/>
                      <a:pt x="38396" y="600"/>
                      <a:pt x="82754" y="19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529965" y="2648902"/>
              <a:ext cx="12518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D2D"/>
                  </a:solidFill>
                  <a:latin typeface="Arial"/>
                  <a:ea typeface="Microsoft YaHei"/>
                  <a:cs typeface="Arial"/>
                </a:rPr>
                <a:t>New Database.fhx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84585" y="31251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提取并对比 5 类元素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47750" y="3429000"/>
              <a:ext cx="1047750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08116" y="35209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ENUM_SET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190750" y="3429000"/>
              <a:ext cx="904875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48686" y="3520916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STRING_VAL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90875" y="34290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19367" y="3520916"/>
              <a:ext cx="5050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EXPR_REF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48125" y="3429000"/>
              <a:ext cx="571500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61127" y="3520916"/>
              <a:ext cx="3454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ALARM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14875" y="3429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12244" y="3520916"/>
              <a:ext cx="4720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PRIORITY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2510" y="39662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7750" y="4238625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E8F5E9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219199" y="4333874"/>
              <a:ext cx="171452" cy="171452"/>
              <a:chOff x="1219199" y="4333874"/>
              <a:chExt cx="171452" cy="17145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219200" y="4410075"/>
                <a:ext cx="57150" cy="95251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1">
                    <a:moveTo>
                      <a:pt x="9525" y="0"/>
                    </a:move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85725"/>
                    </a:lnTo>
                    <a:cubicBezTo>
                      <a:pt x="57150" y="90986"/>
                      <a:pt x="52886" y="95250"/>
                      <a:pt x="47625" y="95250"/>
                    </a:cubicBezTo>
                    <a:lnTo>
                      <a:pt x="28575" y="95250"/>
                    </a:lnTo>
                    <a:cubicBezTo>
                      <a:pt x="13444" y="95251"/>
                      <a:pt x="935" y="83456"/>
                      <a:pt x="48" y="68351"/>
                    </a:cubicBezTo>
                    <a:lnTo>
                      <a:pt x="0" y="66675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95400" y="4410075"/>
                <a:ext cx="95251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1" h="95250">
                    <a:moveTo>
                      <a:pt x="95250" y="9525"/>
                    </a:moveTo>
                    <a:lnTo>
                      <a:pt x="95250" y="66675"/>
                    </a:lnTo>
                    <a:cubicBezTo>
                      <a:pt x="95251" y="81806"/>
                      <a:pt x="83456" y="94315"/>
                      <a:pt x="68351" y="95202"/>
                    </a:cubicBezTo>
                    <a:lnTo>
                      <a:pt x="66675" y="95250"/>
                    </a:lnTo>
                    <a:lnTo>
                      <a:pt x="9525" y="95250"/>
                    </a:lnTo>
                    <a:cubicBezTo>
                      <a:pt x="4264" y="95250"/>
                      <a:pt x="0" y="90986"/>
                      <a:pt x="0" y="857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90986" y="0"/>
                      <a:pt x="95250" y="4264"/>
                      <a:pt x="95250" y="9525"/>
                    </a:cubicBez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95400" y="4333874"/>
                <a:ext cx="95250" cy="5715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1">
                    <a:moveTo>
                      <a:pt x="66675" y="1"/>
                    </a:moveTo>
                    <a:cubicBezTo>
                      <a:pt x="81806" y="0"/>
                      <a:pt x="94315" y="11794"/>
                      <a:pt x="95202" y="26899"/>
                    </a:cubicBezTo>
                    <a:lnTo>
                      <a:pt x="95250" y="28576"/>
                    </a:lnTo>
                    <a:lnTo>
                      <a:pt x="95250" y="47626"/>
                    </a:lnTo>
                    <a:cubicBezTo>
                      <a:pt x="95250" y="52886"/>
                      <a:pt x="90986" y="57151"/>
                      <a:pt x="85725" y="57151"/>
                    </a:cubicBezTo>
                    <a:lnTo>
                      <a:pt x="9525" y="57151"/>
                    </a:lnTo>
                    <a:cubicBezTo>
                      <a:pt x="4264" y="57151"/>
                      <a:pt x="0" y="52886"/>
                      <a:pt x="0" y="47626"/>
                    </a:cubicBezTo>
                    <a:lnTo>
                      <a:pt x="0" y="9526"/>
                    </a:lnTo>
                    <a:cubicBezTo>
                      <a:pt x="0" y="4265"/>
                      <a:pt x="4264" y="1"/>
                      <a:pt x="9525" y="1"/>
                    </a:cubicBezTo>
                    <a:lnTo>
                      <a:pt x="66675" y="1"/>
                    </a:ln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219199" y="4333875"/>
                <a:ext cx="57151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1" h="57150">
                    <a:moveTo>
                      <a:pt x="57151" y="9525"/>
                    </a:moveTo>
                    <a:lnTo>
                      <a:pt x="57151" y="47625"/>
                    </a:lnTo>
                    <a:cubicBezTo>
                      <a:pt x="57151" y="52886"/>
                      <a:pt x="52886" y="57150"/>
                      <a:pt x="47626" y="57150"/>
                    </a:cubicBezTo>
                    <a:lnTo>
                      <a:pt x="9526" y="57150"/>
                    </a:lnTo>
                    <a:cubicBezTo>
                      <a:pt x="4265" y="57150"/>
                      <a:pt x="1" y="52886"/>
                      <a:pt x="1" y="47625"/>
                    </a:cubicBezTo>
                    <a:lnTo>
                      <a:pt x="1" y="28575"/>
                    </a:lnTo>
                    <a:cubicBezTo>
                      <a:pt x="0" y="13444"/>
                      <a:pt x="11794" y="935"/>
                      <a:pt x="26899" y="48"/>
                    </a:cubicBezTo>
                    <a:lnTo>
                      <a:pt x="28576" y="0"/>
                    </a:lnTo>
                    <a:lnTo>
                      <a:pt x="47626" y="0"/>
                    </a:lnTo>
                    <a:cubicBezTo>
                      <a:pt x="52886" y="0"/>
                      <a:pt x="57151" y="4264"/>
                      <a:pt x="57151" y="9525"/>
                    </a:cubicBez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90662" y="4383881"/>
              <a:ext cx="26013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多 Sheet Excel 差异报告（颜色编码）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0" y="3714750"/>
              <a:ext cx="571500" cy="1"/>
            </a:xfrm>
            <a:prstGeom prst="line">
              <a:avLst/>
            </a:prstGeom>
            <a:noFill/>
            <a:ln w="28575">
              <a:solidFill>
                <a:srgbClr val="4472C4"/>
              </a:solidFill>
              <a:tailEnd type="triangle" w="lg" len="lg"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762750" y="1524000"/>
              <a:ext cx="4857750" cy="3619500"/>
              <a:chOff x="6762750" y="1524000"/>
              <a:chExt cx="4857750" cy="3619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762750" y="1524000"/>
                <a:ext cx="4857750" cy="3619500"/>
              </a:xfrm>
              <a:prstGeom prst="roundRect">
                <a:avLst>
                  <a:gd name="adj" fmla="val 3158"/>
                </a:avLst>
              </a:prstGeom>
              <a:solidFill>
                <a:srgbClr val="FFFFFF"/>
              </a:solidFill>
              <a:ln w="14288">
                <a:solidFill>
                  <a:srgbClr val="D1D5DB"/>
                </a:solidFill>
              </a:ln>
              <a:effectLst>
                <a:outerShdw blurRad="9525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762750" y="1524000"/>
                <a:ext cx="48577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762750" y="1809750"/>
                <a:ext cx="4857750" cy="190500"/>
              </a:xfrm>
              <a:prstGeom prst="rect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974180" y="1692592"/>
                <a:ext cx="243489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Step 2 — Generate New FHX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33260" y="22517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048500" y="2524125"/>
                <a:ext cx="161925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F3F4F6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178674" y="2598738"/>
                <a:ext cx="139702" cy="174626"/>
              </a:xfrm>
              <a:custGeom>
                <a:avLst/>
                <a:gdLst/>
                <a:ahLst/>
                <a:cxnLst/>
                <a:rect l="l" t="t" r="r" b="b"/>
                <a:pathLst>
                  <a:path w="139702" h="174626">
                    <a:moveTo>
                      <a:pt x="69851" y="0"/>
                    </a:moveTo>
                    <a:lnTo>
                      <a:pt x="70872" y="61"/>
                    </a:lnTo>
                    <a:cubicBezTo>
                      <a:pt x="74884" y="534"/>
                      <a:pt x="78048" y="3698"/>
                      <a:pt x="78521" y="7710"/>
                    </a:cubicBezTo>
                    <a:lnTo>
                      <a:pt x="78582" y="8731"/>
                    </a:lnTo>
                    <a:lnTo>
                      <a:pt x="78582" y="43656"/>
                    </a:lnTo>
                    <a:lnTo>
                      <a:pt x="78626" y="44966"/>
                    </a:lnTo>
                    <a:cubicBezTo>
                      <a:pt x="79271" y="53557"/>
                      <a:pt x="86085" y="60393"/>
                      <a:pt x="94674" y="61066"/>
                    </a:cubicBezTo>
                    <a:lnTo>
                      <a:pt x="96045" y="61119"/>
                    </a:lnTo>
                    <a:lnTo>
                      <a:pt x="130970" y="61119"/>
                    </a:lnTo>
                    <a:lnTo>
                      <a:pt x="131991" y="61180"/>
                    </a:lnTo>
                    <a:cubicBezTo>
                      <a:pt x="136003" y="61653"/>
                      <a:pt x="139167" y="64817"/>
                      <a:pt x="139640" y="68828"/>
                    </a:cubicBezTo>
                    <a:lnTo>
                      <a:pt x="139701" y="69850"/>
                    </a:lnTo>
                    <a:lnTo>
                      <a:pt x="139701" y="148431"/>
                    </a:lnTo>
                    <a:cubicBezTo>
                      <a:pt x="139702" y="162301"/>
                      <a:pt x="128890" y="173768"/>
                      <a:pt x="115044" y="174581"/>
                    </a:cubicBezTo>
                    <a:lnTo>
                      <a:pt x="113507" y="174625"/>
                    </a:lnTo>
                    <a:lnTo>
                      <a:pt x="26195" y="174625"/>
                    </a:lnTo>
                    <a:cubicBezTo>
                      <a:pt x="12324" y="174626"/>
                      <a:pt x="858" y="163814"/>
                      <a:pt x="44" y="149968"/>
                    </a:cubicBezTo>
                    <a:lnTo>
                      <a:pt x="1" y="148431"/>
                    </a:lnTo>
                    <a:lnTo>
                      <a:pt x="1" y="26194"/>
                    </a:lnTo>
                    <a:cubicBezTo>
                      <a:pt x="0" y="12324"/>
                      <a:pt x="10812" y="857"/>
                      <a:pt x="24658" y="44"/>
                    </a:cubicBezTo>
                    <a:lnTo>
                      <a:pt x="26195" y="0"/>
                    </a:lnTo>
                    <a:close/>
                    <a:moveTo>
                      <a:pt x="77657" y="74678"/>
                    </a:moveTo>
                    <a:cubicBezTo>
                      <a:pt x="76176" y="71724"/>
                      <a:pt x="73155" y="69859"/>
                      <a:pt x="69851" y="69859"/>
                    </a:cubicBezTo>
                    <a:cubicBezTo>
                      <a:pt x="66547" y="69859"/>
                      <a:pt x="63526" y="71724"/>
                      <a:pt x="62045" y="74678"/>
                    </a:cubicBezTo>
                    <a:lnTo>
                      <a:pt x="35851" y="127066"/>
                    </a:lnTo>
                    <a:cubicBezTo>
                      <a:pt x="34499" y="129772"/>
                      <a:pt x="34644" y="132985"/>
                      <a:pt x="36234" y="135558"/>
                    </a:cubicBezTo>
                    <a:cubicBezTo>
                      <a:pt x="37824" y="138131"/>
                      <a:pt x="40632" y="139698"/>
                      <a:pt x="43657" y="139700"/>
                    </a:cubicBezTo>
                    <a:lnTo>
                      <a:pt x="96045" y="139700"/>
                    </a:lnTo>
                    <a:cubicBezTo>
                      <a:pt x="99069" y="139698"/>
                      <a:pt x="101878" y="138131"/>
                      <a:pt x="103468" y="135558"/>
                    </a:cubicBezTo>
                    <a:cubicBezTo>
                      <a:pt x="105058" y="132985"/>
                      <a:pt x="105202" y="129772"/>
                      <a:pt x="103850" y="127066"/>
                    </a:cubicBezTo>
                    <a:close/>
                    <a:moveTo>
                      <a:pt x="69851" y="98104"/>
                    </a:moveTo>
                    <a:lnTo>
                      <a:pt x="81909" y="122238"/>
                    </a:lnTo>
                    <a:lnTo>
                      <a:pt x="57784" y="122238"/>
                    </a:lnTo>
                    <a:close/>
                    <a:moveTo>
                      <a:pt x="96036" y="8723"/>
                    </a:moveTo>
                    <a:lnTo>
                      <a:pt x="130970" y="43656"/>
                    </a:lnTo>
                    <a:lnTo>
                      <a:pt x="96045" y="43656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417118" y="2637949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Arial"/>
                    <a:ea typeface="Microsoft YaHei"/>
                    <a:cs typeface="Arial"/>
                  </a:rPr>
                  <a:t>原始 FHX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8763000" y="2524125"/>
                <a:ext cx="123825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F3F4F6"/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8884443" y="2598738"/>
                <a:ext cx="157163" cy="174624"/>
                <a:chOff x="8884443" y="2598738"/>
                <a:chExt cx="157163" cy="174624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8884444" y="2718626"/>
                  <a:ext cx="157162" cy="54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4736">
                      <a:moveTo>
                        <a:pt x="0" y="0"/>
                      </a:moveTo>
                      <a:cubicBezTo>
                        <a:pt x="17183" y="13158"/>
                        <a:pt x="45699" y="19811"/>
                        <a:pt x="78581" y="19811"/>
                      </a:cubicBezTo>
                      <a:cubicBezTo>
                        <a:pt x="111411" y="19811"/>
                        <a:pt x="139918" y="13175"/>
                        <a:pt x="157162" y="148"/>
                      </a:cubicBezTo>
                      <a:lnTo>
                        <a:pt x="157162" y="19811"/>
                      </a:lnTo>
                      <a:cubicBezTo>
                        <a:pt x="157162" y="40984"/>
                        <a:pt x="123154" y="54177"/>
                        <a:pt x="81262" y="54719"/>
                      </a:cubicBezTo>
                      <a:lnTo>
                        <a:pt x="78581" y="54736"/>
                      </a:lnTo>
                      <a:cubicBezTo>
                        <a:pt x="35466" y="54736"/>
                        <a:pt x="0" y="41439"/>
                        <a:pt x="0" y="19811"/>
                      </a:cubicBez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884444" y="2666239"/>
                  <a:ext cx="157162" cy="54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4736">
                      <a:moveTo>
                        <a:pt x="0" y="0"/>
                      </a:moveTo>
                      <a:cubicBezTo>
                        <a:pt x="17183" y="13158"/>
                        <a:pt x="45699" y="19811"/>
                        <a:pt x="78581" y="19811"/>
                      </a:cubicBezTo>
                      <a:cubicBezTo>
                        <a:pt x="111411" y="19811"/>
                        <a:pt x="139918" y="13175"/>
                        <a:pt x="157162" y="148"/>
                      </a:cubicBezTo>
                      <a:lnTo>
                        <a:pt x="157162" y="19811"/>
                      </a:lnTo>
                      <a:cubicBezTo>
                        <a:pt x="157162" y="41439"/>
                        <a:pt x="121696" y="54736"/>
                        <a:pt x="78581" y="54736"/>
                      </a:cubicBezTo>
                      <a:cubicBezTo>
                        <a:pt x="36689" y="54736"/>
                        <a:pt x="2008" y="42181"/>
                        <a:pt x="183" y="21601"/>
                      </a:cubicBezTo>
                      <a:lnTo>
                        <a:pt x="44" y="20719"/>
                      </a:lnTo>
                      <a:lnTo>
                        <a:pt x="0" y="19811"/>
                      </a:ln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884443" y="2598738"/>
                  <a:ext cx="157163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69850">
                      <a:moveTo>
                        <a:pt x="78582" y="0"/>
                      </a:moveTo>
                      <a:cubicBezTo>
                        <a:pt x="87671" y="0"/>
                        <a:pt x="96429" y="594"/>
                        <a:pt x="104575" y="1729"/>
                      </a:cubicBezTo>
                      <a:lnTo>
                        <a:pt x="108670" y="2349"/>
                      </a:lnTo>
                      <a:cubicBezTo>
                        <a:pt x="113559" y="3164"/>
                        <a:pt x="118175" y="4176"/>
                        <a:pt x="122518" y="5387"/>
                      </a:cubicBezTo>
                      <a:lnTo>
                        <a:pt x="126359" y="6531"/>
                      </a:lnTo>
                      <a:lnTo>
                        <a:pt x="127014" y="6741"/>
                      </a:lnTo>
                      <a:cubicBezTo>
                        <a:pt x="129390" y="7522"/>
                        <a:pt x="131735" y="8396"/>
                        <a:pt x="134043" y="9360"/>
                      </a:cubicBezTo>
                      <a:lnTo>
                        <a:pt x="135780" y="10111"/>
                      </a:lnTo>
                      <a:cubicBezTo>
                        <a:pt x="138894" y="11519"/>
                        <a:pt x="141709" y="13062"/>
                        <a:pt x="144223" y="14738"/>
                      </a:cubicBezTo>
                      <a:cubicBezTo>
                        <a:pt x="145184" y="15379"/>
                        <a:pt x="146095" y="16033"/>
                        <a:pt x="146956" y="16703"/>
                      </a:cubicBezTo>
                      <a:cubicBezTo>
                        <a:pt x="149139" y="18396"/>
                        <a:pt x="151101" y="20356"/>
                        <a:pt x="152798" y="22535"/>
                      </a:cubicBezTo>
                      <a:lnTo>
                        <a:pt x="153592" y="23653"/>
                      </a:lnTo>
                      <a:cubicBezTo>
                        <a:pt x="154000" y="24264"/>
                        <a:pt x="154375" y="24878"/>
                        <a:pt x="154718" y="25495"/>
                      </a:cubicBezTo>
                      <a:lnTo>
                        <a:pt x="155330" y="26709"/>
                      </a:lnTo>
                      <a:cubicBezTo>
                        <a:pt x="156278" y="28746"/>
                        <a:pt x="156861" y="30871"/>
                        <a:pt x="157076" y="33083"/>
                      </a:cubicBezTo>
                      <a:lnTo>
                        <a:pt x="157163" y="34925"/>
                      </a:lnTo>
                      <a:cubicBezTo>
                        <a:pt x="157163" y="56552"/>
                        <a:pt x="121697" y="69850"/>
                        <a:pt x="78582" y="69850"/>
                      </a:cubicBezTo>
                      <a:cubicBezTo>
                        <a:pt x="36689" y="69850"/>
                        <a:pt x="2009" y="57294"/>
                        <a:pt x="184" y="36715"/>
                      </a:cubicBezTo>
                      <a:cubicBezTo>
                        <a:pt x="61" y="36126"/>
                        <a:pt x="0" y="35526"/>
                        <a:pt x="1" y="34925"/>
                      </a:cubicBezTo>
                      <a:lnTo>
                        <a:pt x="44" y="34017"/>
                      </a:lnTo>
                      <a:lnTo>
                        <a:pt x="184" y="33144"/>
                      </a:lnTo>
                      <a:cubicBezTo>
                        <a:pt x="1974" y="13010"/>
                        <a:pt x="35196" y="550"/>
                        <a:pt x="75858" y="17"/>
                      </a:cubicBezTo>
                      <a:close/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9131618" y="2637949"/>
                <a:ext cx="3823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Arial"/>
                    <a:ea typeface="Microsoft YaHei"/>
                    <a:cs typeface="Arial"/>
                  </a:rPr>
                  <a:t>Setup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10096500" y="2524125"/>
                <a:ext cx="13335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F3F4F6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10217944" y="2596096"/>
                <a:ext cx="168580" cy="168535"/>
                <a:chOff x="10217944" y="2596096"/>
                <a:chExt cx="168580" cy="168535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10217944" y="2633662"/>
                  <a:ext cx="130969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30969">
                      <a:moveTo>
                        <a:pt x="43656" y="8731"/>
                      </a:moveTo>
                      <a:cubicBezTo>
                        <a:pt x="43656" y="13553"/>
                        <a:pt x="39747" y="17462"/>
                        <a:pt x="34925" y="17462"/>
                      </a:cubicBezTo>
                      <a:lnTo>
                        <a:pt x="26194" y="17462"/>
                      </a:lnTo>
                      <a:cubicBezTo>
                        <a:pt x="21372" y="17462"/>
                        <a:pt x="17462" y="21372"/>
                        <a:pt x="17462" y="26194"/>
                      </a:cubicBezTo>
                      <a:lnTo>
                        <a:pt x="17462" y="104775"/>
                      </a:lnTo>
                      <a:cubicBezTo>
                        <a:pt x="17462" y="109597"/>
                        <a:pt x="21372" y="113506"/>
                        <a:pt x="26194" y="113506"/>
                      </a:cubicBezTo>
                      <a:lnTo>
                        <a:pt x="104775" y="113506"/>
                      </a:lnTo>
                      <a:cubicBezTo>
                        <a:pt x="109597" y="113506"/>
                        <a:pt x="113506" y="109597"/>
                        <a:pt x="113506" y="104775"/>
                      </a:cubicBezTo>
                      <a:lnTo>
                        <a:pt x="113506" y="96044"/>
                      </a:lnTo>
                      <a:cubicBezTo>
                        <a:pt x="113506" y="91222"/>
                        <a:pt x="117415" y="87313"/>
                        <a:pt x="122237" y="87313"/>
                      </a:cubicBezTo>
                      <a:cubicBezTo>
                        <a:pt x="127060" y="87313"/>
                        <a:pt x="130969" y="91222"/>
                        <a:pt x="130969" y="96044"/>
                      </a:cubicBezTo>
                      <a:lnTo>
                        <a:pt x="130969" y="104775"/>
                      </a:lnTo>
                      <a:cubicBezTo>
                        <a:pt x="130969" y="119241"/>
                        <a:pt x="119241" y="130969"/>
                        <a:pt x="104775" y="130969"/>
                      </a:cubicBezTo>
                      <a:lnTo>
                        <a:pt x="26194" y="130969"/>
                      </a:lnTo>
                      <a:cubicBezTo>
                        <a:pt x="11727" y="130969"/>
                        <a:pt x="0" y="119241"/>
                        <a:pt x="0" y="104775"/>
                      </a:cubicBezTo>
                      <a:lnTo>
                        <a:pt x="0" y="26194"/>
                      </a:lnTo>
                      <a:cubicBezTo>
                        <a:pt x="0" y="11727"/>
                        <a:pt x="11727" y="0"/>
                        <a:pt x="26194" y="0"/>
                      </a:cubicBezTo>
                      <a:lnTo>
                        <a:pt x="34925" y="0"/>
                      </a:lnTo>
                      <a:cubicBezTo>
                        <a:pt x="39747" y="0"/>
                        <a:pt x="43656" y="3909"/>
                        <a:pt x="43656" y="8731"/>
                      </a:cubicBezTo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0261600" y="2596096"/>
                  <a:ext cx="124924" cy="124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24" h="124879">
                      <a:moveTo>
                        <a:pt x="57591" y="28932"/>
                      </a:moveTo>
                      <a:lnTo>
                        <a:pt x="95939" y="67279"/>
                      </a:lnTo>
                      <a:lnTo>
                        <a:pt x="41107" y="122312"/>
                      </a:lnTo>
                      <a:cubicBezTo>
                        <a:pt x="39469" y="123955"/>
                        <a:pt x="37245" y="124879"/>
                        <a:pt x="34925" y="124879"/>
                      </a:cubicBezTo>
                      <a:lnTo>
                        <a:pt x="8731" y="124879"/>
                      </a:lnTo>
                      <a:cubicBezTo>
                        <a:pt x="3909" y="124879"/>
                        <a:pt x="0" y="120970"/>
                        <a:pt x="0" y="116148"/>
                      </a:cubicBezTo>
                      <a:lnTo>
                        <a:pt x="0" y="89954"/>
                      </a:lnTo>
                      <a:cubicBezTo>
                        <a:pt x="0" y="87635"/>
                        <a:pt x="924" y="85410"/>
                        <a:pt x="2567" y="83773"/>
                      </a:cubicBezTo>
                      <a:close/>
                      <a:moveTo>
                        <a:pt x="114310" y="10570"/>
                      </a:moveTo>
                      <a:cubicBezTo>
                        <a:pt x="124297" y="20550"/>
                        <a:pt x="124924" y="36535"/>
                        <a:pt x="115750" y="47267"/>
                      </a:cubicBezTo>
                      <a:lnTo>
                        <a:pt x="114318" y="48839"/>
                      </a:lnTo>
                      <a:lnTo>
                        <a:pt x="108268" y="54898"/>
                      </a:lnTo>
                      <a:lnTo>
                        <a:pt x="69964" y="16594"/>
                      </a:lnTo>
                      <a:lnTo>
                        <a:pt x="76032" y="10570"/>
                      </a:lnTo>
                      <a:cubicBezTo>
                        <a:pt x="86602" y="0"/>
                        <a:pt x="103739" y="0"/>
                        <a:pt x="114310" y="10570"/>
                      </a:cubicBezTo>
                    </a:path>
                  </a:pathLst>
                </a:custGeom>
                <a:solidFill>
                  <a:srgbClr val="4472C4"/>
                </a:solidFill>
                <a:ln>
                  <a:noFill/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10465118" y="2637949"/>
                <a:ext cx="7788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Arial"/>
                    <a:ea typeface="Microsoft YaHei"/>
                    <a:cs typeface="Arial"/>
                  </a:rPr>
                  <a:t>编辑后 Excel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537710" y="31251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严格验证 + 翻译替换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7048500" y="3381375"/>
                <a:ext cx="20955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466743" y="3484245"/>
                <a:ext cx="12590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65100"/>
                    </a:solidFill>
                    <a:latin typeface="Arial"/>
                    <a:ea typeface="Microsoft YaHei"/>
                    <a:cs typeface="Arial"/>
                  </a:rPr>
                  <a:t>公式 / 格式 / 重复检查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239250" y="3381375"/>
                <a:ext cx="219075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546098" y="3484245"/>
                <a:ext cx="15770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ENTRY NAME + STRING_VALUE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033260" y="39662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7048500" y="4238625"/>
                <a:ext cx="4381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19950" y="4333875"/>
                <a:ext cx="1714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0975">
                    <a:moveTo>
                      <a:pt x="161925" y="123825"/>
                    </a:moveTo>
                    <a:cubicBezTo>
                      <a:pt x="167186" y="123825"/>
                      <a:pt x="171450" y="128089"/>
                      <a:pt x="171450" y="133350"/>
                    </a:cubicBezTo>
                    <a:lnTo>
                      <a:pt x="171450" y="152400"/>
                    </a:lnTo>
                    <a:cubicBezTo>
                      <a:pt x="171450" y="168182"/>
                      <a:pt x="158657" y="180975"/>
                      <a:pt x="142875" y="180975"/>
                    </a:cubicBezTo>
                    <a:lnTo>
                      <a:pt x="28575" y="180975"/>
                    </a:lnTo>
                    <a:cubicBezTo>
                      <a:pt x="12793" y="180975"/>
                      <a:pt x="0" y="168182"/>
                      <a:pt x="0" y="152400"/>
                    </a:cubicBezTo>
                    <a:lnTo>
                      <a:pt x="0" y="133350"/>
                    </a:lnTo>
                    <a:cubicBezTo>
                      <a:pt x="0" y="128089"/>
                      <a:pt x="4264" y="123825"/>
                      <a:pt x="9525" y="123825"/>
                    </a:cubicBezTo>
                    <a:cubicBezTo>
                      <a:pt x="14786" y="123825"/>
                      <a:pt x="19050" y="128089"/>
                      <a:pt x="19050" y="133350"/>
                    </a:cubicBezTo>
                    <a:lnTo>
                      <a:pt x="19050" y="152400"/>
                    </a:lnTo>
                    <a:cubicBezTo>
                      <a:pt x="19050" y="157661"/>
                      <a:pt x="23314" y="161925"/>
                      <a:pt x="28575" y="161925"/>
                    </a:cubicBezTo>
                    <a:lnTo>
                      <a:pt x="142875" y="161925"/>
                    </a:lnTo>
                    <a:cubicBezTo>
                      <a:pt x="148136" y="161925"/>
                      <a:pt x="152400" y="157661"/>
                      <a:pt x="152400" y="152400"/>
                    </a:cubicBezTo>
                    <a:lnTo>
                      <a:pt x="152400" y="133350"/>
                    </a:lnTo>
                    <a:cubicBezTo>
                      <a:pt x="152400" y="128089"/>
                      <a:pt x="156664" y="123825"/>
                      <a:pt x="161925" y="123825"/>
                    </a:cubicBezTo>
                    <a:moveTo>
                      <a:pt x="85725" y="0"/>
                    </a:moveTo>
                    <a:cubicBezTo>
                      <a:pt x="90986" y="0"/>
                      <a:pt x="95250" y="4264"/>
                      <a:pt x="95250" y="9525"/>
                    </a:cubicBezTo>
                    <a:lnTo>
                      <a:pt x="95250" y="100822"/>
                    </a:lnTo>
                    <a:lnTo>
                      <a:pt x="126616" y="69466"/>
                    </a:lnTo>
                    <a:cubicBezTo>
                      <a:pt x="130353" y="65856"/>
                      <a:pt x="136294" y="65908"/>
                      <a:pt x="139968" y="69582"/>
                    </a:cubicBezTo>
                    <a:cubicBezTo>
                      <a:pt x="143642" y="73256"/>
                      <a:pt x="143694" y="79197"/>
                      <a:pt x="140084" y="82934"/>
                    </a:cubicBezTo>
                    <a:lnTo>
                      <a:pt x="92459" y="130559"/>
                    </a:lnTo>
                    <a:cubicBezTo>
                      <a:pt x="92189" y="130830"/>
                      <a:pt x="91903" y="131085"/>
                      <a:pt x="91602" y="131321"/>
                    </a:cubicBezTo>
                    <a:lnTo>
                      <a:pt x="92459" y="130559"/>
                    </a:lnTo>
                    <a:cubicBezTo>
                      <a:pt x="90750" y="132267"/>
                      <a:pt x="88455" y="133261"/>
                      <a:pt x="86039" y="133340"/>
                    </a:cubicBezTo>
                    <a:lnTo>
                      <a:pt x="85725" y="133350"/>
                    </a:lnTo>
                    <a:lnTo>
                      <a:pt x="85420" y="133350"/>
                    </a:lnTo>
                    <a:lnTo>
                      <a:pt x="84906" y="133312"/>
                    </a:lnTo>
                    <a:lnTo>
                      <a:pt x="85725" y="133350"/>
                    </a:lnTo>
                    <a:cubicBezTo>
                      <a:pt x="83594" y="133350"/>
                      <a:pt x="81525" y="132636"/>
                      <a:pt x="79848" y="131321"/>
                    </a:cubicBezTo>
                    <a:cubicBezTo>
                      <a:pt x="79547" y="131085"/>
                      <a:pt x="79261" y="130830"/>
                      <a:pt x="78991" y="130559"/>
                    </a:cubicBezTo>
                    <a:lnTo>
                      <a:pt x="31366" y="82934"/>
                    </a:lnTo>
                    <a:cubicBezTo>
                      <a:pt x="27756" y="79197"/>
                      <a:pt x="27808" y="73256"/>
                      <a:pt x="31482" y="69582"/>
                    </a:cubicBezTo>
                    <a:cubicBezTo>
                      <a:pt x="35156" y="65908"/>
                      <a:pt x="41097" y="65856"/>
                      <a:pt x="44834" y="69466"/>
                    </a:cubicBezTo>
                    <a:lnTo>
                      <a:pt x="76200" y="100822"/>
                    </a:lnTo>
                    <a:lnTo>
                      <a:pt x="76200" y="9525"/>
                    </a:lnTo>
                    <a:cubicBezTo>
                      <a:pt x="76200" y="4264"/>
                      <a:pt x="80464" y="0"/>
                      <a:pt x="85725" y="0"/>
                    </a:cubicBezTo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491412" y="4383881"/>
                <a:ext cx="156626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翻译完成的新 FHX 文件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4727336" y="5585460"/>
              <a:ext cx="2737328" cy="524828"/>
              <a:chOff x="4727336" y="5585460"/>
              <a:chExt cx="2737328" cy="524828"/>
            </a:xfrm>
          </p:grpSpPr>
          <p:sp>
            <p:nvSpPr>
              <p:cNvPr id="68" name="TextBox 68"/>
              <p:cNvSpPr txBox="1"/>
              <p:nvPr/>
            </p:nvSpPr>
            <p:spPr>
              <a:xfrm>
                <a:off x="5680710" y="55854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核心价值：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727336" y="5835968"/>
                <a:ext cx="27373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自动翻译 · 精确对比 · 安全验证</a:t>
                </a:r>
              </a:p>
            </p:txBody>
          </p:sp>
        </p:grpSp>
      </p:grpSp>
      <p:sp>
        <p:nvSpPr>
          <p:cNvPr id="72" name="TextBox 72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85750"/>
            <a:ext cx="5086433" cy="481012"/>
            <a:chOff x="571500" y="285750"/>
            <a:chExt cx="5086433" cy="481012"/>
          </a:xfrm>
        </p:grpSpPr>
        <p:sp>
          <p:nvSpPr>
            <p:cNvPr id="4" name="Rectangle 4"/>
            <p:cNvSpPr/>
            <p:nvPr/>
          </p:nvSpPr>
          <p:spPr>
            <a:xfrm>
              <a:off x="571500" y="285750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3425" y="309562"/>
              <a:ext cx="49245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Step 1 — Compare FHX with Setup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6760" y="918210"/>
            <a:ext cx="6206490" cy="939165"/>
            <a:chOff x="746760" y="918210"/>
            <a:chExt cx="6206490" cy="939165"/>
          </a:xfrm>
        </p:grpSpPr>
        <p:sp>
          <p:nvSpPr>
            <p:cNvPr id="7" name="TextBox 7"/>
            <p:cNvSpPr txBox="1"/>
            <p:nvPr/>
          </p:nvSpPr>
          <p:spPr>
            <a:xfrm>
              <a:off x="746760" y="918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输入文件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190625"/>
              <a:ext cx="2476500" cy="666750"/>
            </a:xfrm>
            <a:prstGeom prst="roundRect">
              <a:avLst>
                <a:gd name="adj" fmla="val 14286"/>
              </a:avLst>
            </a:prstGeom>
            <a:solidFill>
              <a:srgbClr val="F3F4F6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1003299" y="1377950"/>
              <a:ext cx="203202" cy="254001"/>
            </a:xfrm>
            <a:custGeom>
              <a:avLst/>
              <a:gdLst/>
              <a:ahLst/>
              <a:cxnLst/>
              <a:rect l="l" t="t" r="r" b="b"/>
              <a:pathLst>
                <a:path w="203202" h="254001">
                  <a:moveTo>
                    <a:pt x="101601" y="0"/>
                  </a:moveTo>
                  <a:lnTo>
                    <a:pt x="103087" y="89"/>
                  </a:lnTo>
                  <a:cubicBezTo>
                    <a:pt x="108923" y="777"/>
                    <a:pt x="113524" y="5379"/>
                    <a:pt x="114212" y="11214"/>
                  </a:cubicBezTo>
                  <a:lnTo>
                    <a:pt x="114301" y="12700"/>
                  </a:lnTo>
                  <a:lnTo>
                    <a:pt x="114301" y="63500"/>
                  </a:lnTo>
                  <a:lnTo>
                    <a:pt x="114365" y="65405"/>
                  </a:lnTo>
                  <a:cubicBezTo>
                    <a:pt x="115304" y="77900"/>
                    <a:pt x="125215" y="87844"/>
                    <a:pt x="137707" y="88824"/>
                  </a:cubicBezTo>
                  <a:lnTo>
                    <a:pt x="139701" y="88900"/>
                  </a:lnTo>
                  <a:lnTo>
                    <a:pt x="190501" y="88900"/>
                  </a:lnTo>
                  <a:lnTo>
                    <a:pt x="191987" y="88989"/>
                  </a:lnTo>
                  <a:cubicBezTo>
                    <a:pt x="197823" y="89677"/>
                    <a:pt x="202424" y="94279"/>
                    <a:pt x="203112" y="100114"/>
                  </a:cubicBezTo>
                  <a:lnTo>
                    <a:pt x="203201" y="101600"/>
                  </a:lnTo>
                  <a:lnTo>
                    <a:pt x="203201" y="215900"/>
                  </a:lnTo>
                  <a:cubicBezTo>
                    <a:pt x="203202" y="236075"/>
                    <a:pt x="187476" y="252753"/>
                    <a:pt x="167336" y="253937"/>
                  </a:cubicBezTo>
                  <a:lnTo>
                    <a:pt x="165101" y="254000"/>
                  </a:lnTo>
                  <a:lnTo>
                    <a:pt x="38101" y="254000"/>
                  </a:lnTo>
                  <a:cubicBezTo>
                    <a:pt x="17926" y="254001"/>
                    <a:pt x="1248" y="238275"/>
                    <a:pt x="65" y="218135"/>
                  </a:cubicBezTo>
                  <a:lnTo>
                    <a:pt x="1" y="215900"/>
                  </a:lnTo>
                  <a:lnTo>
                    <a:pt x="1" y="38100"/>
                  </a:lnTo>
                  <a:cubicBezTo>
                    <a:pt x="0" y="17925"/>
                    <a:pt x="15726" y="1247"/>
                    <a:pt x="35866" y="63"/>
                  </a:cubicBezTo>
                  <a:lnTo>
                    <a:pt x="38101" y="0"/>
                  </a:lnTo>
                  <a:close/>
                  <a:moveTo>
                    <a:pt x="112955" y="108623"/>
                  </a:moveTo>
                  <a:cubicBezTo>
                    <a:pt x="110801" y="104327"/>
                    <a:pt x="106407" y="101614"/>
                    <a:pt x="101601" y="101614"/>
                  </a:cubicBezTo>
                  <a:cubicBezTo>
                    <a:pt x="96795" y="101614"/>
                    <a:pt x="92401" y="104327"/>
                    <a:pt x="90247" y="108623"/>
                  </a:cubicBezTo>
                  <a:lnTo>
                    <a:pt x="52147" y="184823"/>
                  </a:lnTo>
                  <a:cubicBezTo>
                    <a:pt x="50181" y="188759"/>
                    <a:pt x="50391" y="193432"/>
                    <a:pt x="52704" y="197175"/>
                  </a:cubicBezTo>
                  <a:cubicBezTo>
                    <a:pt x="55016" y="200918"/>
                    <a:pt x="59101" y="203198"/>
                    <a:pt x="63501" y="203200"/>
                  </a:cubicBezTo>
                  <a:lnTo>
                    <a:pt x="139701" y="203200"/>
                  </a:lnTo>
                  <a:cubicBezTo>
                    <a:pt x="144101" y="203198"/>
                    <a:pt x="148186" y="200918"/>
                    <a:pt x="150499" y="197175"/>
                  </a:cubicBezTo>
                  <a:cubicBezTo>
                    <a:pt x="152811" y="193432"/>
                    <a:pt x="153022" y="188759"/>
                    <a:pt x="151055" y="184823"/>
                  </a:cubicBezTo>
                  <a:close/>
                  <a:moveTo>
                    <a:pt x="101601" y="142697"/>
                  </a:moveTo>
                  <a:lnTo>
                    <a:pt x="119140" y="177800"/>
                  </a:lnTo>
                  <a:lnTo>
                    <a:pt x="84050" y="177800"/>
                  </a:lnTo>
                  <a:close/>
                  <a:moveTo>
                    <a:pt x="139688" y="12687"/>
                  </a:moveTo>
                  <a:lnTo>
                    <a:pt x="190501" y="63500"/>
                  </a:lnTo>
                  <a:lnTo>
                    <a:pt x="139701" y="635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8260" y="1299210"/>
              <a:ext cx="6941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FHX 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070" y="161734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Library / Control Strategies 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619500" y="1190625"/>
              <a:ext cx="2476500" cy="666750"/>
            </a:xfrm>
            <a:prstGeom prst="roundRect">
              <a:avLst>
                <a:gd name="adj" fmla="val 14286"/>
              </a:avLst>
            </a:prstGeom>
            <a:solidFill>
              <a:srgbClr val="F3F4F6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3848099" y="1377950"/>
              <a:ext cx="228601" cy="254000"/>
              <a:chOff x="3848099" y="1377950"/>
              <a:chExt cx="228601" cy="25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848100" y="1552334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59614"/>
                      <a:pt x="179134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848100" y="1476134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60274"/>
                      <a:pt x="177013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848099" y="1377950"/>
                <a:ext cx="228601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1" h="101600">
                    <a:moveTo>
                      <a:pt x="114301" y="0"/>
                    </a:moveTo>
                    <a:cubicBezTo>
                      <a:pt x="127522" y="0"/>
                      <a:pt x="140260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8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9" y="14707"/>
                    </a:lnTo>
                    <a:cubicBezTo>
                      <a:pt x="202028" y="16756"/>
                      <a:pt x="206122" y="18999"/>
                      <a:pt x="209780" y="21438"/>
                    </a:cubicBezTo>
                    <a:cubicBezTo>
                      <a:pt x="211177" y="22369"/>
                      <a:pt x="212502" y="23321"/>
                      <a:pt x="213755" y="24295"/>
                    </a:cubicBezTo>
                    <a:cubicBezTo>
                      <a:pt x="216929" y="26758"/>
                      <a:pt x="219783" y="29608"/>
                      <a:pt x="222251" y="32779"/>
                    </a:cubicBezTo>
                    <a:lnTo>
                      <a:pt x="223407" y="34404"/>
                    </a:lnTo>
                    <a:cubicBezTo>
                      <a:pt x="223999" y="35293"/>
                      <a:pt x="224545" y="36187"/>
                      <a:pt x="225045" y="37084"/>
                    </a:cubicBezTo>
                    <a:lnTo>
                      <a:pt x="225934" y="38849"/>
                    </a:lnTo>
                    <a:cubicBezTo>
                      <a:pt x="227314" y="41813"/>
                      <a:pt x="228161" y="44903"/>
                      <a:pt x="228474" y="48120"/>
                    </a:cubicBezTo>
                    <a:lnTo>
                      <a:pt x="228601" y="50800"/>
                    </a:lnTo>
                    <a:cubicBezTo>
                      <a:pt x="228601" y="82258"/>
                      <a:pt x="177014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4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9" y="25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175760" y="1299210"/>
              <a:ext cx="1500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New Database.fhx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8570" y="1617345"/>
              <a:ext cx="868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Setup 参考文件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477000" y="1524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4472C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41068" y="131445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34250" y="918210"/>
            <a:ext cx="4095750" cy="1891665"/>
            <a:chOff x="7334250" y="918210"/>
            <a:chExt cx="4095750" cy="1891665"/>
          </a:xfrm>
        </p:grpSpPr>
        <p:sp>
          <p:nvSpPr>
            <p:cNvPr id="22" name="TextBox 22"/>
            <p:cNvSpPr txBox="1"/>
            <p:nvPr/>
          </p:nvSpPr>
          <p:spPr>
            <a:xfrm>
              <a:off x="7414260" y="918210"/>
              <a:ext cx="1063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对比 5 类元素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34250" y="1190625"/>
              <a:ext cx="4095750" cy="16192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7607618" y="1371124"/>
              <a:ext cx="12274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Consolas"/>
                  <a:ea typeface="Microsoft YaHei"/>
                  <a:cs typeface="Consolas"/>
                </a:rPr>
                <a:t>① ENUMERATION_SET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7618" y="1609249"/>
              <a:ext cx="9608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Consolas"/>
                  <a:ea typeface="Microsoft YaHei"/>
                  <a:cs typeface="Consolas"/>
                </a:rPr>
                <a:t>② STRING_VALUE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07618" y="1847374"/>
              <a:ext cx="2319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Consolas"/>
                  <a:ea typeface="Microsoft YaHei"/>
                  <a:cs typeface="Consolas"/>
                </a:rPr>
                <a:t>③ Expression Refs ($nameset:value)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7618" y="208549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Consolas"/>
                  <a:ea typeface="Microsoft YaHei"/>
                  <a:cs typeface="Consolas"/>
                </a:rPr>
                <a:t>④ SYSTEM_ALARM / USER_ALARM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7618" y="2323624"/>
              <a:ext cx="1051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Consolas"/>
                  <a:ea typeface="Microsoft YaHei"/>
                  <a:cs typeface="Consolas"/>
                </a:rPr>
                <a:t>⑤ PRIORITY_NAME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46760" y="2346960"/>
            <a:ext cx="6111240" cy="3225165"/>
            <a:chOff x="746760" y="2346960"/>
            <a:chExt cx="6111240" cy="3225165"/>
          </a:xfrm>
        </p:grpSpPr>
        <p:sp>
          <p:nvSpPr>
            <p:cNvPr id="30" name="TextBox 30"/>
            <p:cNvSpPr txBox="1"/>
            <p:nvPr/>
          </p:nvSpPr>
          <p:spPr>
            <a:xfrm>
              <a:off x="746760" y="2346960"/>
              <a:ext cx="1677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输出：颜色编码 Excel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2619375"/>
              <a:ext cx="6096000" cy="29527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762000" y="2619375"/>
              <a:ext cx="6096000" cy="333375"/>
            </a:xfrm>
            <a:prstGeom prst="roundRect">
              <a:avLst>
                <a:gd name="adj" fmla="val 28571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2000" y="2809875"/>
              <a:ext cx="6096000" cy="14287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12570" y="2741295"/>
              <a:ext cx="659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Sheet 名称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89070" y="27412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颜色含义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3070" y="274129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说明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2952750"/>
              <a:ext cx="6096000" cy="381000"/>
            </a:xfrm>
            <a:prstGeom prst="rect">
              <a:avLst/>
            </a:prstGeom>
            <a:solidFill>
              <a:srgbClr val="C6EFC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2952750"/>
              <a:ext cx="6096000" cy="381000"/>
            </a:xfrm>
            <a:prstGeom prst="rect">
              <a:avLst/>
            </a:prstGeom>
            <a:noFill/>
            <a:ln w="4762">
              <a:solidFill>
                <a:srgbClr val="D1D5D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10665" y="30775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Namesets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000500" y="30480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C6EFCE"/>
            </a:solidFill>
            <a:ln w="9525">
              <a:solidFill>
                <a:srgbClr val="2E7D3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69118" y="30856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两端均存在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12118" y="3085624"/>
              <a:ext cx="11754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FHX + Setup 中均有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333750"/>
              <a:ext cx="6096000" cy="381000"/>
            </a:xfrm>
            <a:prstGeom prst="rect">
              <a:avLst/>
            </a:prstGeom>
            <a:solidFill>
              <a:srgbClr val="FFC7CE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2000" y="3333750"/>
              <a:ext cx="6096000" cy="381000"/>
            </a:xfrm>
            <a:prstGeom prst="rect">
              <a:avLst/>
            </a:prstGeom>
            <a:noFill/>
            <a:ln w="4762">
              <a:solidFill>
                <a:srgbClr val="D1D5D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10665" y="3458528"/>
              <a:ext cx="922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3935"/>
                  </a:solidFill>
                  <a:latin typeface="Arial"/>
                  <a:ea typeface="Microsoft YaHei"/>
                  <a:cs typeface="Arial"/>
                </a:rPr>
                <a:t>String Values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000500" y="34290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FFC7CE"/>
            </a:solidFill>
            <a:ln w="9525">
              <a:solidFill>
                <a:srgbClr val="E5393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369118" y="3466624"/>
              <a:ext cx="577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53935"/>
                  </a:solidFill>
                  <a:latin typeface="Arial"/>
                  <a:ea typeface="Microsoft YaHei"/>
                  <a:cs typeface="Arial"/>
                </a:rPr>
                <a:t>仅 FHX 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12118" y="34666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需要翻译或保留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" y="3714750"/>
              <a:ext cx="6096000" cy="381000"/>
            </a:xfrm>
            <a:prstGeom prst="rect">
              <a:avLst/>
            </a:prstGeom>
            <a:solidFill>
              <a:srgbClr val="FFEB9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2000" y="3714750"/>
              <a:ext cx="6096000" cy="381000"/>
            </a:xfrm>
            <a:prstGeom prst="rect">
              <a:avLst/>
            </a:prstGeom>
            <a:noFill/>
            <a:ln w="4762">
              <a:solidFill>
                <a:srgbClr val="D1D5D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10665" y="3839528"/>
              <a:ext cx="1111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860B"/>
                  </a:solidFill>
                  <a:latin typeface="Arial"/>
                  <a:ea typeface="Microsoft YaHei"/>
                  <a:cs typeface="Arial"/>
                </a:rPr>
                <a:t>Expression Refs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000500" y="38100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FFEB9C"/>
            </a:solidFill>
            <a:ln w="9525">
              <a:solidFill>
                <a:srgbClr val="B8860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369118" y="3847624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860B"/>
                  </a:solidFill>
                  <a:latin typeface="Arial"/>
                  <a:ea typeface="Microsoft YaHei"/>
                  <a:cs typeface="Arial"/>
                </a:rPr>
                <a:t>需关注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12118" y="38476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需人工确认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62000" y="4095750"/>
              <a:ext cx="6096000" cy="381000"/>
            </a:xfrm>
            <a:prstGeom prst="rect">
              <a:avLst/>
            </a:prstGeom>
            <a:solidFill>
              <a:srgbClr val="D6E4F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2000" y="4095750"/>
              <a:ext cx="6096000" cy="381000"/>
            </a:xfrm>
            <a:prstGeom prst="rect">
              <a:avLst/>
            </a:prstGeom>
            <a:noFill/>
            <a:ln w="4762">
              <a:solidFill>
                <a:srgbClr val="D1D5D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510665" y="4220528"/>
              <a:ext cx="481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Alarms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000500" y="41910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D6E4F0"/>
            </a:solidFill>
            <a:ln w="9525">
              <a:solidFill>
                <a:srgbClr val="1B3A5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369118" y="42286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建议新值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12118" y="42286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自动推荐翻译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" y="4476750"/>
              <a:ext cx="6096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476750"/>
              <a:ext cx="6096000" cy="381000"/>
            </a:xfrm>
            <a:prstGeom prst="rect">
              <a:avLst/>
            </a:prstGeom>
            <a:noFill/>
            <a:ln w="4762">
              <a:solidFill>
                <a:srgbClr val="D1D5D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510665" y="4601528"/>
              <a:ext cx="572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Priority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000500" y="45720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1D5D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369118" y="4609624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未匹配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12118" y="46096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仅存在于一端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12570" y="5046345"/>
              <a:ext cx="45654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多 Sheet 结构：Namesets / String Values / Expression Refs / Alarms / Priority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746760" y="5775960"/>
            <a:ext cx="5383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导出后用户可在 Excel 中编辑"New Value"列，然后进入 Step 2 生成新 FHX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85750"/>
            <a:ext cx="4220075" cy="481012"/>
            <a:chOff x="571500" y="285750"/>
            <a:chExt cx="4220075" cy="481012"/>
          </a:xfrm>
        </p:grpSpPr>
        <p:sp>
          <p:nvSpPr>
            <p:cNvPr id="4" name="Rectangle 4"/>
            <p:cNvSpPr/>
            <p:nvPr/>
          </p:nvSpPr>
          <p:spPr>
            <a:xfrm>
              <a:off x="571500" y="285750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3425" y="309562"/>
              <a:ext cx="405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Step 2 — Generate New FHX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6760" y="870585"/>
            <a:ext cx="10683240" cy="891540"/>
            <a:chOff x="746760" y="870585"/>
            <a:chExt cx="10683240" cy="891540"/>
          </a:xfrm>
        </p:grpSpPr>
        <p:sp>
          <p:nvSpPr>
            <p:cNvPr id="7" name="TextBox 7"/>
            <p:cNvSpPr txBox="1"/>
            <p:nvPr/>
          </p:nvSpPr>
          <p:spPr>
            <a:xfrm>
              <a:off x="746760" y="870585"/>
              <a:ext cx="1349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输入文件（3 个）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143000"/>
              <a:ext cx="3238500" cy="619125"/>
            </a:xfrm>
            <a:prstGeom prst="roundRect">
              <a:avLst>
                <a:gd name="adj" fmla="val 15385"/>
              </a:avLst>
            </a:prstGeom>
            <a:solidFill>
              <a:srgbClr val="F3F4F6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996949" y="1327150"/>
              <a:ext cx="177802" cy="222251"/>
            </a:xfrm>
            <a:custGeom>
              <a:avLst/>
              <a:gdLst/>
              <a:ahLst/>
              <a:cxnLst/>
              <a:rect l="l" t="t" r="r" b="b"/>
              <a:pathLst>
                <a:path w="177802" h="222251">
                  <a:moveTo>
                    <a:pt x="88901" y="0"/>
                  </a:moveTo>
                  <a:lnTo>
                    <a:pt x="90201" y="78"/>
                  </a:lnTo>
                  <a:cubicBezTo>
                    <a:pt x="95307" y="680"/>
                    <a:pt x="99334" y="4706"/>
                    <a:pt x="99936" y="9812"/>
                  </a:cubicBezTo>
                  <a:lnTo>
                    <a:pt x="100013" y="11112"/>
                  </a:lnTo>
                  <a:lnTo>
                    <a:pt x="100013" y="55562"/>
                  </a:lnTo>
                  <a:lnTo>
                    <a:pt x="100069" y="57229"/>
                  </a:lnTo>
                  <a:cubicBezTo>
                    <a:pt x="100891" y="68163"/>
                    <a:pt x="109563" y="76864"/>
                    <a:pt x="120494" y="77721"/>
                  </a:cubicBezTo>
                  <a:lnTo>
                    <a:pt x="122238" y="77787"/>
                  </a:lnTo>
                  <a:lnTo>
                    <a:pt x="166688" y="77787"/>
                  </a:lnTo>
                  <a:lnTo>
                    <a:pt x="167989" y="77865"/>
                  </a:lnTo>
                  <a:cubicBezTo>
                    <a:pt x="173095" y="78467"/>
                    <a:pt x="177121" y="82494"/>
                    <a:pt x="177723" y="87600"/>
                  </a:cubicBezTo>
                  <a:lnTo>
                    <a:pt x="177801" y="88900"/>
                  </a:lnTo>
                  <a:lnTo>
                    <a:pt x="177801" y="188912"/>
                  </a:lnTo>
                  <a:cubicBezTo>
                    <a:pt x="177802" y="206565"/>
                    <a:pt x="164042" y="221159"/>
                    <a:pt x="146419" y="222194"/>
                  </a:cubicBezTo>
                  <a:lnTo>
                    <a:pt x="144463" y="222250"/>
                  </a:lnTo>
                  <a:lnTo>
                    <a:pt x="33338" y="222250"/>
                  </a:lnTo>
                  <a:cubicBezTo>
                    <a:pt x="15686" y="222251"/>
                    <a:pt x="1092" y="208491"/>
                    <a:pt x="57" y="190868"/>
                  </a:cubicBezTo>
                  <a:lnTo>
                    <a:pt x="1" y="188913"/>
                  </a:lnTo>
                  <a:lnTo>
                    <a:pt x="1" y="33338"/>
                  </a:lnTo>
                  <a:cubicBezTo>
                    <a:pt x="0" y="15685"/>
                    <a:pt x="13760" y="1091"/>
                    <a:pt x="31383" y="56"/>
                  </a:cubicBezTo>
                  <a:lnTo>
                    <a:pt x="33338" y="0"/>
                  </a:lnTo>
                  <a:close/>
                  <a:moveTo>
                    <a:pt x="98836" y="95045"/>
                  </a:moveTo>
                  <a:cubicBezTo>
                    <a:pt x="96951" y="91286"/>
                    <a:pt x="93106" y="88912"/>
                    <a:pt x="88901" y="88912"/>
                  </a:cubicBezTo>
                  <a:cubicBezTo>
                    <a:pt x="84696" y="88912"/>
                    <a:pt x="80851" y="91286"/>
                    <a:pt x="78966" y="95045"/>
                  </a:cubicBezTo>
                  <a:lnTo>
                    <a:pt x="45629" y="161720"/>
                  </a:lnTo>
                  <a:cubicBezTo>
                    <a:pt x="43908" y="165164"/>
                    <a:pt x="44092" y="169253"/>
                    <a:pt x="46116" y="172528"/>
                  </a:cubicBezTo>
                  <a:cubicBezTo>
                    <a:pt x="48139" y="175803"/>
                    <a:pt x="51714" y="177798"/>
                    <a:pt x="55563" y="177800"/>
                  </a:cubicBezTo>
                  <a:lnTo>
                    <a:pt x="122238" y="177800"/>
                  </a:lnTo>
                  <a:cubicBezTo>
                    <a:pt x="126088" y="177798"/>
                    <a:pt x="129663" y="175803"/>
                    <a:pt x="131686" y="172528"/>
                  </a:cubicBezTo>
                  <a:cubicBezTo>
                    <a:pt x="133710" y="169253"/>
                    <a:pt x="133894" y="165164"/>
                    <a:pt x="132173" y="161720"/>
                  </a:cubicBezTo>
                  <a:close/>
                  <a:moveTo>
                    <a:pt x="88901" y="124860"/>
                  </a:moveTo>
                  <a:lnTo>
                    <a:pt x="104247" y="155575"/>
                  </a:lnTo>
                  <a:lnTo>
                    <a:pt x="73544" y="155575"/>
                  </a:lnTo>
                  <a:close/>
                  <a:moveTo>
                    <a:pt x="122227" y="11101"/>
                  </a:moveTo>
                  <a:lnTo>
                    <a:pt x="166688" y="55562"/>
                  </a:lnTo>
                  <a:lnTo>
                    <a:pt x="122238" y="55562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9212" y="1288256"/>
              <a:ext cx="1013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原始 FHX 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070" y="15411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需要被翻译的源文件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1143000"/>
              <a:ext cx="3238500" cy="619125"/>
            </a:xfrm>
            <a:prstGeom prst="roundRect">
              <a:avLst>
                <a:gd name="adj" fmla="val 15385"/>
              </a:avLst>
            </a:prstGeom>
            <a:solidFill>
              <a:srgbClr val="F3F4F6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4414837" y="1327150"/>
              <a:ext cx="200026" cy="222250"/>
              <a:chOff x="4414837" y="1327150"/>
              <a:chExt cx="200026" cy="2222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414838" y="147973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414838" y="141306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14837" y="13271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8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748212" y="1288256"/>
              <a:ext cx="1406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New Database.fhx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0070" y="1541145"/>
              <a:ext cx="15290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Setup 参考文件（LOCALE）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1143000"/>
              <a:ext cx="3810000" cy="619125"/>
            </a:xfrm>
            <a:prstGeom prst="roundRect">
              <a:avLst>
                <a:gd name="adj" fmla="val 15385"/>
              </a:avLst>
            </a:prstGeom>
            <a:solidFill>
              <a:srgbClr val="E8F5E9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22" name="Group 22"/>
            <p:cNvGrpSpPr/>
            <p:nvPr/>
          </p:nvGrpSpPr>
          <p:grpSpPr>
            <a:xfrm>
              <a:off x="7843838" y="1323788"/>
              <a:ext cx="214557" cy="214500"/>
              <a:chOff x="7843838" y="1323788"/>
              <a:chExt cx="214557" cy="214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843838" y="1371600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55563" y="11112"/>
                    </a:moveTo>
                    <a:cubicBezTo>
                      <a:pt x="55563" y="17250"/>
                      <a:pt x="50587" y="22225"/>
                      <a:pt x="44450" y="22225"/>
                    </a:cubicBezTo>
                    <a:lnTo>
                      <a:pt x="33338" y="22225"/>
                    </a:lnTo>
                    <a:cubicBezTo>
                      <a:pt x="27200" y="22225"/>
                      <a:pt x="22225" y="27200"/>
                      <a:pt x="22225" y="33338"/>
                    </a:cubicBezTo>
                    <a:lnTo>
                      <a:pt x="22225" y="133350"/>
                    </a:lnTo>
                    <a:cubicBezTo>
                      <a:pt x="22225" y="139487"/>
                      <a:pt x="27200" y="144462"/>
                      <a:pt x="33338" y="144462"/>
                    </a:cubicBezTo>
                    <a:lnTo>
                      <a:pt x="133350" y="144462"/>
                    </a:lnTo>
                    <a:cubicBezTo>
                      <a:pt x="139487" y="144462"/>
                      <a:pt x="144462" y="139487"/>
                      <a:pt x="144462" y="133350"/>
                    </a:cubicBezTo>
                    <a:lnTo>
                      <a:pt x="144462" y="122238"/>
                    </a:lnTo>
                    <a:cubicBezTo>
                      <a:pt x="144462" y="116100"/>
                      <a:pt x="149438" y="111125"/>
                      <a:pt x="155575" y="111125"/>
                    </a:cubicBezTo>
                    <a:cubicBezTo>
                      <a:pt x="161712" y="111125"/>
                      <a:pt x="166688" y="116100"/>
                      <a:pt x="166688" y="122238"/>
                    </a:cubicBezTo>
                    <a:lnTo>
                      <a:pt x="166688" y="133350"/>
                    </a:lnTo>
                    <a:cubicBezTo>
                      <a:pt x="166688" y="151762"/>
                      <a:pt x="151762" y="166688"/>
                      <a:pt x="133350" y="166688"/>
                    </a:cubicBezTo>
                    <a:lnTo>
                      <a:pt x="33338" y="166688"/>
                    </a:lnTo>
                    <a:cubicBezTo>
                      <a:pt x="14926" y="166688"/>
                      <a:pt x="0" y="151762"/>
                      <a:pt x="0" y="133350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44450" y="0"/>
                    </a:lnTo>
                    <a:cubicBezTo>
                      <a:pt x="50587" y="0"/>
                      <a:pt x="55563" y="4975"/>
                      <a:pt x="55563" y="11112"/>
                    </a:cubicBezTo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99400" y="1323788"/>
                <a:ext cx="158995" cy="158937"/>
              </a:xfrm>
              <a:custGeom>
                <a:avLst/>
                <a:gdLst/>
                <a:ahLst/>
                <a:cxnLst/>
                <a:rect l="l" t="t" r="r" b="b"/>
                <a:pathLst>
                  <a:path w="158995" h="158937">
                    <a:moveTo>
                      <a:pt x="73298" y="36822"/>
                    </a:moveTo>
                    <a:lnTo>
                      <a:pt x="122104" y="85628"/>
                    </a:lnTo>
                    <a:lnTo>
                      <a:pt x="52318" y="155670"/>
                    </a:lnTo>
                    <a:cubicBezTo>
                      <a:pt x="50233" y="157761"/>
                      <a:pt x="47402" y="158937"/>
                      <a:pt x="44450" y="158937"/>
                    </a:cubicBezTo>
                    <a:lnTo>
                      <a:pt x="11112" y="158937"/>
                    </a:lnTo>
                    <a:cubicBezTo>
                      <a:pt x="4975" y="158937"/>
                      <a:pt x="0" y="153962"/>
                      <a:pt x="0" y="147825"/>
                    </a:cubicBezTo>
                    <a:lnTo>
                      <a:pt x="0" y="114487"/>
                    </a:lnTo>
                    <a:cubicBezTo>
                      <a:pt x="1" y="111535"/>
                      <a:pt x="1176" y="108704"/>
                      <a:pt x="3267" y="106620"/>
                    </a:cubicBezTo>
                    <a:close/>
                    <a:moveTo>
                      <a:pt x="145485" y="13453"/>
                    </a:moveTo>
                    <a:cubicBezTo>
                      <a:pt x="158196" y="26155"/>
                      <a:pt x="158995" y="46499"/>
                      <a:pt x="147318" y="60158"/>
                    </a:cubicBezTo>
                    <a:lnTo>
                      <a:pt x="145496" y="62159"/>
                    </a:lnTo>
                    <a:lnTo>
                      <a:pt x="137795" y="69871"/>
                    </a:lnTo>
                    <a:lnTo>
                      <a:pt x="89044" y="21120"/>
                    </a:lnTo>
                    <a:lnTo>
                      <a:pt x="96768" y="13453"/>
                    </a:lnTo>
                    <a:cubicBezTo>
                      <a:pt x="110221" y="0"/>
                      <a:pt x="132032" y="0"/>
                      <a:pt x="145485" y="13453"/>
                    </a:cubicBezTo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177212" y="1288256"/>
              <a:ext cx="14620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编辑后的 Excel 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99070" y="1541145"/>
              <a:ext cx="1631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用户在 Step 1 输出中确认翻译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6760" y="2061210"/>
            <a:ext cx="5349240" cy="1415415"/>
            <a:chOff x="746760" y="2061210"/>
            <a:chExt cx="5349240" cy="1415415"/>
          </a:xfrm>
        </p:grpSpPr>
        <p:sp>
          <p:nvSpPr>
            <p:cNvPr id="26" name="TextBox 26"/>
            <p:cNvSpPr txBox="1"/>
            <p:nvPr/>
          </p:nvSpPr>
          <p:spPr>
            <a:xfrm>
              <a:off x="746760" y="2061210"/>
              <a:ext cx="12234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53935"/>
                  </a:solidFill>
                  <a:latin typeface="Arial"/>
                  <a:ea typeface="Microsoft YaHei"/>
                  <a:cs typeface="Arial"/>
                </a:rPr>
                <a:t>严格 Excel 验证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2333625"/>
              <a:ext cx="5334000" cy="1143000"/>
            </a:xfrm>
            <a:prstGeom prst="roundRect">
              <a:avLst>
                <a:gd name="adj" fmla="val 8333"/>
              </a:avLst>
            </a:prstGeom>
            <a:solidFill>
              <a:srgbClr val="FFF5F5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8" name="Freeform 28"/>
            <p:cNvSpPr/>
            <p:nvPr/>
          </p:nvSpPr>
          <p:spPr>
            <a:xfrm>
              <a:off x="989781" y="2580347"/>
              <a:ext cx="163671" cy="116155"/>
            </a:xfrm>
            <a:custGeom>
              <a:avLst/>
              <a:gdLst/>
              <a:ahLst/>
              <a:cxnLst/>
              <a:rect l="l" t="t" r="r" b="b"/>
              <a:pathLst>
                <a:path w="163671" h="116155">
                  <a:moveTo>
                    <a:pt x="159953" y="3718"/>
                  </a:moveTo>
                  <a:cubicBezTo>
                    <a:pt x="163671" y="7438"/>
                    <a:pt x="163671" y="13467"/>
                    <a:pt x="159953" y="17187"/>
                  </a:cubicBezTo>
                  <a:lnTo>
                    <a:pt x="64703" y="112437"/>
                  </a:lnTo>
                  <a:cubicBezTo>
                    <a:pt x="60984" y="116155"/>
                    <a:pt x="54954" y="116155"/>
                    <a:pt x="51235" y="112437"/>
                  </a:cubicBezTo>
                  <a:lnTo>
                    <a:pt x="3610" y="64812"/>
                  </a:lnTo>
                  <a:cubicBezTo>
                    <a:pt x="0" y="61074"/>
                    <a:pt x="52" y="55134"/>
                    <a:pt x="3726" y="51459"/>
                  </a:cubicBezTo>
                  <a:cubicBezTo>
                    <a:pt x="7400" y="47785"/>
                    <a:pt x="13341" y="47734"/>
                    <a:pt x="17078" y="51343"/>
                  </a:cubicBezTo>
                  <a:lnTo>
                    <a:pt x="57969" y="92234"/>
                  </a:lnTo>
                  <a:lnTo>
                    <a:pt x="146485" y="3718"/>
                  </a:lnTo>
                  <a:cubicBezTo>
                    <a:pt x="150204" y="0"/>
                    <a:pt x="156234" y="0"/>
                    <a:pt x="159953" y="3718"/>
                  </a:cubicBezTo>
                </a:path>
              </a:pathLst>
            </a:custGeom>
            <a:solidFill>
              <a:srgbClr val="E5393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72540" y="2582228"/>
              <a:ext cx="2140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D2D"/>
                  </a:solidFill>
                  <a:latin typeface="Arial"/>
                  <a:ea typeface="Microsoft YaHei"/>
                  <a:cs typeface="Arial"/>
                </a:rPr>
                <a:t>检测 Excel 公式（会破坏工作流）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989781" y="2913722"/>
              <a:ext cx="163671" cy="116155"/>
            </a:xfrm>
            <a:custGeom>
              <a:avLst/>
              <a:gdLst/>
              <a:ahLst/>
              <a:cxnLst/>
              <a:rect l="l" t="t" r="r" b="b"/>
              <a:pathLst>
                <a:path w="163671" h="116155">
                  <a:moveTo>
                    <a:pt x="159953" y="3718"/>
                  </a:moveTo>
                  <a:cubicBezTo>
                    <a:pt x="163671" y="7438"/>
                    <a:pt x="163671" y="13467"/>
                    <a:pt x="159953" y="17187"/>
                  </a:cubicBezTo>
                  <a:lnTo>
                    <a:pt x="64703" y="112437"/>
                  </a:lnTo>
                  <a:cubicBezTo>
                    <a:pt x="60984" y="116155"/>
                    <a:pt x="54954" y="116155"/>
                    <a:pt x="51235" y="112437"/>
                  </a:cubicBezTo>
                  <a:lnTo>
                    <a:pt x="3610" y="64812"/>
                  </a:lnTo>
                  <a:cubicBezTo>
                    <a:pt x="0" y="61074"/>
                    <a:pt x="52" y="55134"/>
                    <a:pt x="3726" y="51459"/>
                  </a:cubicBezTo>
                  <a:cubicBezTo>
                    <a:pt x="7400" y="47785"/>
                    <a:pt x="13341" y="47734"/>
                    <a:pt x="17078" y="51343"/>
                  </a:cubicBezTo>
                  <a:lnTo>
                    <a:pt x="57969" y="92234"/>
                  </a:lnTo>
                  <a:lnTo>
                    <a:pt x="146485" y="3718"/>
                  </a:lnTo>
                  <a:cubicBezTo>
                    <a:pt x="150204" y="0"/>
                    <a:pt x="156234" y="0"/>
                    <a:pt x="159953" y="3718"/>
                  </a:cubicBezTo>
                </a:path>
              </a:pathLst>
            </a:custGeom>
            <a:solidFill>
              <a:srgbClr val="E5393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72540" y="29156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D2D"/>
                  </a:solidFill>
                  <a:latin typeface="Arial"/>
                  <a:ea typeface="Microsoft YaHei"/>
                  <a:cs typeface="Arial"/>
                </a:rPr>
                <a:t>校验格式无效的单元格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3466281" y="2580347"/>
              <a:ext cx="163671" cy="116155"/>
            </a:xfrm>
            <a:custGeom>
              <a:avLst/>
              <a:gdLst/>
              <a:ahLst/>
              <a:cxnLst/>
              <a:rect l="l" t="t" r="r" b="b"/>
              <a:pathLst>
                <a:path w="163671" h="116155">
                  <a:moveTo>
                    <a:pt x="159953" y="3718"/>
                  </a:moveTo>
                  <a:cubicBezTo>
                    <a:pt x="163671" y="7438"/>
                    <a:pt x="163671" y="13467"/>
                    <a:pt x="159953" y="17187"/>
                  </a:cubicBezTo>
                  <a:lnTo>
                    <a:pt x="64703" y="112437"/>
                  </a:lnTo>
                  <a:cubicBezTo>
                    <a:pt x="60984" y="116155"/>
                    <a:pt x="54954" y="116155"/>
                    <a:pt x="51235" y="112437"/>
                  </a:cubicBezTo>
                  <a:lnTo>
                    <a:pt x="3610" y="64812"/>
                  </a:lnTo>
                  <a:cubicBezTo>
                    <a:pt x="0" y="61074"/>
                    <a:pt x="52" y="55134"/>
                    <a:pt x="3726" y="51459"/>
                  </a:cubicBezTo>
                  <a:cubicBezTo>
                    <a:pt x="7400" y="47785"/>
                    <a:pt x="13341" y="47734"/>
                    <a:pt x="17078" y="51343"/>
                  </a:cubicBezTo>
                  <a:lnTo>
                    <a:pt x="57969" y="92234"/>
                  </a:lnTo>
                  <a:lnTo>
                    <a:pt x="146485" y="3718"/>
                  </a:lnTo>
                  <a:cubicBezTo>
                    <a:pt x="150204" y="0"/>
                    <a:pt x="156234" y="0"/>
                    <a:pt x="159953" y="3718"/>
                  </a:cubicBezTo>
                </a:path>
              </a:pathLst>
            </a:custGeom>
            <a:solidFill>
              <a:srgbClr val="E5393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49040" y="2582228"/>
              <a:ext cx="1335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D2D"/>
                  </a:solidFill>
                  <a:latin typeface="Arial"/>
                  <a:ea typeface="Microsoft YaHei"/>
                  <a:cs typeface="Arial"/>
                </a:rPr>
                <a:t>检查重复 VALUE 编号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3466281" y="2913722"/>
              <a:ext cx="163671" cy="116155"/>
            </a:xfrm>
            <a:custGeom>
              <a:avLst/>
              <a:gdLst/>
              <a:ahLst/>
              <a:cxnLst/>
              <a:rect l="l" t="t" r="r" b="b"/>
              <a:pathLst>
                <a:path w="163671" h="116155">
                  <a:moveTo>
                    <a:pt x="159953" y="3718"/>
                  </a:moveTo>
                  <a:cubicBezTo>
                    <a:pt x="163671" y="7438"/>
                    <a:pt x="163671" y="13467"/>
                    <a:pt x="159953" y="17187"/>
                  </a:cubicBezTo>
                  <a:lnTo>
                    <a:pt x="64703" y="112437"/>
                  </a:lnTo>
                  <a:cubicBezTo>
                    <a:pt x="60984" y="116155"/>
                    <a:pt x="54954" y="116155"/>
                    <a:pt x="51235" y="112437"/>
                  </a:cubicBezTo>
                  <a:lnTo>
                    <a:pt x="3610" y="64812"/>
                  </a:lnTo>
                  <a:cubicBezTo>
                    <a:pt x="0" y="61074"/>
                    <a:pt x="52" y="55134"/>
                    <a:pt x="3726" y="51459"/>
                  </a:cubicBezTo>
                  <a:cubicBezTo>
                    <a:pt x="7400" y="47785"/>
                    <a:pt x="13341" y="47734"/>
                    <a:pt x="17078" y="51343"/>
                  </a:cubicBezTo>
                  <a:lnTo>
                    <a:pt x="57969" y="92234"/>
                  </a:lnTo>
                  <a:lnTo>
                    <a:pt x="146485" y="3718"/>
                  </a:lnTo>
                  <a:cubicBezTo>
                    <a:pt x="150204" y="0"/>
                    <a:pt x="156234" y="0"/>
                    <a:pt x="159953" y="3718"/>
                  </a:cubicBezTo>
                </a:path>
              </a:pathLst>
            </a:custGeom>
            <a:solidFill>
              <a:srgbClr val="E5393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49040" y="29156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D2D"/>
                  </a:solidFill>
                  <a:latin typeface="Arial"/>
                  <a:ea typeface="Microsoft YaHei"/>
                  <a:cs typeface="Arial"/>
                </a:rPr>
                <a:t>检测空名称字段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52260" y="2061210"/>
            <a:ext cx="4587240" cy="1415415"/>
            <a:chOff x="6652260" y="2061210"/>
            <a:chExt cx="4587240" cy="1415415"/>
          </a:xfrm>
        </p:grpSpPr>
        <p:sp>
          <p:nvSpPr>
            <p:cNvPr id="37" name="TextBox 37"/>
            <p:cNvSpPr txBox="1"/>
            <p:nvPr/>
          </p:nvSpPr>
          <p:spPr>
            <a:xfrm>
              <a:off x="6652260" y="2061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翻译替换内容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67500" y="2333625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E8F0F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6892290" y="2486978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① ENTRY NAME 值替换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92290" y="27251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② STRING_VALUE 引用替换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2290" y="296322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③ 表达式引用 $nameset:value 替换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2290" y="32013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④ LOCALE 从 Setup 文件替换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810000"/>
            <a:ext cx="10477500" cy="1333500"/>
            <a:chOff x="762000" y="3810000"/>
            <a:chExt cx="10477500" cy="1333500"/>
          </a:xfrm>
        </p:grpSpPr>
        <p:sp>
          <p:nvSpPr>
            <p:cNvPr id="44" name="Rectangle 44"/>
            <p:cNvSpPr/>
            <p:nvPr/>
          </p:nvSpPr>
          <p:spPr>
            <a:xfrm>
              <a:off x="762000" y="3810000"/>
              <a:ext cx="5334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1032510" y="3966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报警字段翻译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4415" y="4249102"/>
              <a:ext cx="33800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DESCRIPTION · ALARM_WORD · MESSAGE · CATEGORY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7750" y="4476750"/>
              <a:ext cx="1905000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68768" y="45605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SYSTEM_ALARM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48000" y="4476750"/>
              <a:ext cx="1905000" cy="2667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647027" y="4560570"/>
              <a:ext cx="706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USER_ALARM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67500" y="3810000"/>
              <a:ext cx="4572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2" name="TextBox 52"/>
            <p:cNvSpPr txBox="1"/>
            <p:nvPr/>
          </p:nvSpPr>
          <p:spPr>
            <a:xfrm>
              <a:off x="6938010" y="3966210"/>
              <a:ext cx="16014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PRIORITY_NAME 更新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39915" y="42491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替换优先级名称为英文标准值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40868" y="4561999"/>
              <a:ext cx="1688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D2D"/>
                  </a:solidFill>
                  <a:latin typeface="Consolas"/>
                  <a:ea typeface="Microsoft YaHei"/>
                  <a:cs typeface="Consolas"/>
                </a:rPr>
                <a:t>"高" → "High" "低" → "Low"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40868" y="4800124"/>
              <a:ext cx="23520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D2D"/>
                  </a:solidFill>
                  <a:latin typeface="Consolas"/>
                  <a:ea typeface="Microsoft YaHei"/>
                  <a:cs typeface="Consolas"/>
                </a:rPr>
                <a:t>"紧急" → "Critical" "一般" → "Normal"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2000" y="5429250"/>
            <a:ext cx="10477500" cy="762000"/>
            <a:chOff x="762000" y="5429250"/>
            <a:chExt cx="10477500" cy="762000"/>
          </a:xfrm>
        </p:grpSpPr>
        <p:sp>
          <p:nvSpPr>
            <p:cNvPr id="57" name="Rectangle 57"/>
            <p:cNvSpPr/>
            <p:nvPr/>
          </p:nvSpPr>
          <p:spPr>
            <a:xfrm>
              <a:off x="762000" y="5429250"/>
              <a:ext cx="10477500" cy="762000"/>
            </a:xfrm>
            <a:prstGeom prst="roundRect">
              <a:avLst>
                <a:gd name="adj" fmla="val 15000"/>
              </a:avLst>
            </a:prstGeom>
            <a:solidFill>
              <a:srgbClr val="E8F5E9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8" name="Freeform 58"/>
            <p:cNvSpPr/>
            <p:nvPr/>
          </p:nvSpPr>
          <p:spPr>
            <a:xfrm>
              <a:off x="1090612" y="5662612"/>
              <a:ext cx="257175" cy="271462"/>
            </a:xfrm>
            <a:custGeom>
              <a:avLst/>
              <a:gdLst/>
              <a:ahLst/>
              <a:cxnLst/>
              <a:rect l="l" t="t" r="r" b="b"/>
              <a:pathLst>
                <a:path w="257175" h="271462">
                  <a:moveTo>
                    <a:pt x="242888" y="185738"/>
                  </a:moveTo>
                  <a:cubicBezTo>
                    <a:pt x="250778" y="185738"/>
                    <a:pt x="257175" y="192134"/>
                    <a:pt x="257175" y="200025"/>
                  </a:cubicBezTo>
                  <a:lnTo>
                    <a:pt x="257175" y="228600"/>
                  </a:lnTo>
                  <a:cubicBezTo>
                    <a:pt x="257175" y="252272"/>
                    <a:pt x="237985" y="271462"/>
                    <a:pt x="214312" y="271462"/>
                  </a:cubicBezTo>
                  <a:lnTo>
                    <a:pt x="42862" y="271462"/>
                  </a:lnTo>
                  <a:cubicBezTo>
                    <a:pt x="19190" y="271462"/>
                    <a:pt x="0" y="252272"/>
                    <a:pt x="0" y="228600"/>
                  </a:cubicBezTo>
                  <a:lnTo>
                    <a:pt x="0" y="200025"/>
                  </a:lnTo>
                  <a:cubicBezTo>
                    <a:pt x="0" y="192134"/>
                    <a:pt x="6397" y="185738"/>
                    <a:pt x="14288" y="185738"/>
                  </a:cubicBezTo>
                  <a:cubicBezTo>
                    <a:pt x="22178" y="185738"/>
                    <a:pt x="28575" y="192134"/>
                    <a:pt x="28575" y="200025"/>
                  </a:cubicBezTo>
                  <a:lnTo>
                    <a:pt x="28575" y="228600"/>
                  </a:lnTo>
                  <a:cubicBezTo>
                    <a:pt x="28575" y="236491"/>
                    <a:pt x="34972" y="242888"/>
                    <a:pt x="42862" y="242888"/>
                  </a:cubicBezTo>
                  <a:lnTo>
                    <a:pt x="214312" y="242888"/>
                  </a:lnTo>
                  <a:cubicBezTo>
                    <a:pt x="222203" y="242888"/>
                    <a:pt x="228600" y="236491"/>
                    <a:pt x="228600" y="228600"/>
                  </a:cubicBezTo>
                  <a:lnTo>
                    <a:pt x="228600" y="200025"/>
                  </a:lnTo>
                  <a:cubicBezTo>
                    <a:pt x="228600" y="192134"/>
                    <a:pt x="234997" y="185738"/>
                    <a:pt x="242888" y="185738"/>
                  </a:cubicBezTo>
                  <a:moveTo>
                    <a:pt x="128588" y="0"/>
                  </a:moveTo>
                  <a:cubicBezTo>
                    <a:pt x="136478" y="0"/>
                    <a:pt x="142875" y="6397"/>
                    <a:pt x="142875" y="14288"/>
                  </a:cubicBezTo>
                  <a:lnTo>
                    <a:pt x="142875" y="151233"/>
                  </a:lnTo>
                  <a:lnTo>
                    <a:pt x="189924" y="104199"/>
                  </a:lnTo>
                  <a:cubicBezTo>
                    <a:pt x="195530" y="98784"/>
                    <a:pt x="204441" y="98862"/>
                    <a:pt x="209952" y="104373"/>
                  </a:cubicBezTo>
                  <a:cubicBezTo>
                    <a:pt x="215463" y="109884"/>
                    <a:pt x="215541" y="118795"/>
                    <a:pt x="210126" y="124401"/>
                  </a:cubicBezTo>
                  <a:lnTo>
                    <a:pt x="138689" y="195839"/>
                  </a:lnTo>
                  <a:cubicBezTo>
                    <a:pt x="138283" y="196245"/>
                    <a:pt x="137854" y="196627"/>
                    <a:pt x="137403" y="196982"/>
                  </a:cubicBezTo>
                  <a:lnTo>
                    <a:pt x="138689" y="195839"/>
                  </a:lnTo>
                  <a:cubicBezTo>
                    <a:pt x="136124" y="198401"/>
                    <a:pt x="132682" y="199892"/>
                    <a:pt x="129059" y="200011"/>
                  </a:cubicBezTo>
                  <a:lnTo>
                    <a:pt x="128588" y="200025"/>
                  </a:lnTo>
                  <a:lnTo>
                    <a:pt x="128130" y="200025"/>
                  </a:lnTo>
                  <a:lnTo>
                    <a:pt x="127359" y="199968"/>
                  </a:lnTo>
                  <a:lnTo>
                    <a:pt x="128588" y="200025"/>
                  </a:lnTo>
                  <a:cubicBezTo>
                    <a:pt x="125391" y="200025"/>
                    <a:pt x="122287" y="198954"/>
                    <a:pt x="119772" y="196982"/>
                  </a:cubicBezTo>
                  <a:cubicBezTo>
                    <a:pt x="119321" y="196627"/>
                    <a:pt x="118892" y="196245"/>
                    <a:pt x="118486" y="195839"/>
                  </a:cubicBezTo>
                  <a:lnTo>
                    <a:pt x="47049" y="124401"/>
                  </a:lnTo>
                  <a:cubicBezTo>
                    <a:pt x="41634" y="118795"/>
                    <a:pt x="41712" y="109884"/>
                    <a:pt x="47223" y="104373"/>
                  </a:cubicBezTo>
                  <a:cubicBezTo>
                    <a:pt x="52734" y="98862"/>
                    <a:pt x="61645" y="98784"/>
                    <a:pt x="67251" y="104199"/>
                  </a:cubicBezTo>
                  <a:lnTo>
                    <a:pt x="114300" y="151233"/>
                  </a:lnTo>
                  <a:lnTo>
                    <a:pt x="114300" y="14288"/>
                  </a:lnTo>
                  <a:cubicBezTo>
                    <a:pt x="114300" y="6397"/>
                    <a:pt x="120697" y="0"/>
                    <a:pt x="128588" y="0"/>
                  </a:cubicBezTo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04950" y="5534025"/>
              <a:ext cx="28209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输出：翻译完成的新 FHX 文件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09712" y="5860256"/>
              <a:ext cx="37115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文件名自动添加 _NEW 后缀，UTF-16 LE with BOM 编码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66825" y="569690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*_NEW.fhx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/>
      <p:bldP spid="43" grpId="0"/>
      <p:bldP spid="56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376238"/>
            <a:ext cx="3018520" cy="457200"/>
            <a:chOff x="733425" y="376238"/>
            <a:chExt cx="3018520" cy="457200"/>
          </a:xfrm>
        </p:grpSpPr>
        <p:sp>
          <p:nvSpPr>
            <p:cNvPr id="4" name="TextBox 4"/>
            <p:cNvSpPr txBox="1"/>
            <p:nvPr/>
          </p:nvSpPr>
          <p:spPr>
            <a:xfrm>
              <a:off x="733425" y="376238"/>
              <a:ext cx="30185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图形用户界面（GUI）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620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46760" y="1108710"/>
            <a:ext cx="3825240" cy="3891915"/>
            <a:chOff x="746760" y="1108710"/>
            <a:chExt cx="3825240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746760" y="1108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界面特点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381125"/>
              <a:ext cx="38100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80043" y="1552575"/>
              <a:ext cx="173822" cy="133680"/>
            </a:xfrm>
            <a:custGeom>
              <a:avLst/>
              <a:gdLst/>
              <a:ahLst/>
              <a:cxnLst/>
              <a:rect l="l" t="t" r="r" b="b"/>
              <a:pathLst>
                <a:path w="173822" h="133680">
                  <a:moveTo>
                    <a:pt x="171473" y="81467"/>
                  </a:moveTo>
                  <a:cubicBezTo>
                    <a:pt x="173822" y="86170"/>
                    <a:pt x="171916" y="91887"/>
                    <a:pt x="167215" y="94240"/>
                  </a:cubicBezTo>
                  <a:lnTo>
                    <a:pt x="91015" y="132340"/>
                  </a:lnTo>
                  <a:cubicBezTo>
                    <a:pt x="88335" y="133680"/>
                    <a:pt x="85180" y="133680"/>
                    <a:pt x="82500" y="132340"/>
                  </a:cubicBezTo>
                  <a:lnTo>
                    <a:pt x="6300" y="94240"/>
                  </a:lnTo>
                  <a:cubicBezTo>
                    <a:pt x="1770" y="91798"/>
                    <a:pt x="0" y="86200"/>
                    <a:pt x="2301" y="81597"/>
                  </a:cubicBezTo>
                  <a:cubicBezTo>
                    <a:pt x="4603" y="76994"/>
                    <a:pt x="10144" y="75052"/>
                    <a:pt x="14815" y="77210"/>
                  </a:cubicBezTo>
                  <a:lnTo>
                    <a:pt x="86757" y="113157"/>
                  </a:lnTo>
                  <a:lnTo>
                    <a:pt x="158709" y="77200"/>
                  </a:lnTo>
                  <a:cubicBezTo>
                    <a:pt x="163412" y="74851"/>
                    <a:pt x="169129" y="76757"/>
                    <a:pt x="171482" y="81458"/>
                  </a:cubicBezTo>
                  <a:moveTo>
                    <a:pt x="86834" y="0"/>
                  </a:moveTo>
                  <a:cubicBezTo>
                    <a:pt x="87189" y="0"/>
                    <a:pt x="87542" y="22"/>
                    <a:pt x="87891" y="67"/>
                  </a:cubicBezTo>
                  <a:lnTo>
                    <a:pt x="88948" y="257"/>
                  </a:lnTo>
                  <a:lnTo>
                    <a:pt x="89767" y="486"/>
                  </a:lnTo>
                  <a:lnTo>
                    <a:pt x="89882" y="543"/>
                  </a:lnTo>
                  <a:lnTo>
                    <a:pt x="89996" y="562"/>
                  </a:lnTo>
                  <a:lnTo>
                    <a:pt x="90272" y="695"/>
                  </a:lnTo>
                  <a:lnTo>
                    <a:pt x="90748" y="876"/>
                  </a:lnTo>
                  <a:lnTo>
                    <a:pt x="90901" y="962"/>
                  </a:lnTo>
                  <a:lnTo>
                    <a:pt x="91015" y="1010"/>
                  </a:lnTo>
                  <a:lnTo>
                    <a:pt x="167215" y="39110"/>
                  </a:lnTo>
                  <a:cubicBezTo>
                    <a:pt x="170438" y="40725"/>
                    <a:pt x="172472" y="44020"/>
                    <a:pt x="172472" y="47625"/>
                  </a:cubicBezTo>
                  <a:cubicBezTo>
                    <a:pt x="172472" y="51230"/>
                    <a:pt x="170438" y="54525"/>
                    <a:pt x="167215" y="56140"/>
                  </a:cubicBezTo>
                  <a:lnTo>
                    <a:pt x="91015" y="94240"/>
                  </a:lnTo>
                  <a:cubicBezTo>
                    <a:pt x="88335" y="95580"/>
                    <a:pt x="85180" y="95580"/>
                    <a:pt x="82500" y="94240"/>
                  </a:cubicBezTo>
                  <a:lnTo>
                    <a:pt x="6300" y="56140"/>
                  </a:lnTo>
                  <a:cubicBezTo>
                    <a:pt x="3077" y="54525"/>
                    <a:pt x="1043" y="51230"/>
                    <a:pt x="1043" y="47625"/>
                  </a:cubicBezTo>
                  <a:cubicBezTo>
                    <a:pt x="1043" y="44020"/>
                    <a:pt x="3077" y="40725"/>
                    <a:pt x="6300" y="39110"/>
                  </a:cubicBezTo>
                  <a:lnTo>
                    <a:pt x="82500" y="1010"/>
                  </a:lnTo>
                  <a:lnTo>
                    <a:pt x="82605" y="962"/>
                  </a:lnTo>
                  <a:lnTo>
                    <a:pt x="82776" y="867"/>
                  </a:lnTo>
                  <a:lnTo>
                    <a:pt x="83519" y="562"/>
                  </a:lnTo>
                  <a:lnTo>
                    <a:pt x="83624" y="543"/>
                  </a:lnTo>
                  <a:lnTo>
                    <a:pt x="83748" y="486"/>
                  </a:lnTo>
                  <a:lnTo>
                    <a:pt x="84567" y="257"/>
                  </a:lnTo>
                  <a:lnTo>
                    <a:pt x="85614" y="67"/>
                  </a:lnTo>
                  <a:lnTo>
                    <a:pt x="86148" y="1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71588" y="1545431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tkinter 桌面应用，900×750 窗口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00250"/>
              <a:ext cx="38100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90599" y="2143125"/>
              <a:ext cx="152402" cy="190501"/>
            </a:xfrm>
            <a:custGeom>
              <a:avLst/>
              <a:gdLst/>
              <a:ahLst/>
              <a:cxnLst/>
              <a:rect l="l" t="t" r="r" b="b"/>
              <a:pathLst>
                <a:path w="152402" h="190501">
                  <a:moveTo>
                    <a:pt x="76201" y="0"/>
                  </a:moveTo>
                  <a:lnTo>
                    <a:pt x="77315" y="67"/>
                  </a:lnTo>
                  <a:cubicBezTo>
                    <a:pt x="81692" y="583"/>
                    <a:pt x="85143" y="4034"/>
                    <a:pt x="85659" y="8411"/>
                  </a:cubicBezTo>
                  <a:lnTo>
                    <a:pt x="85726" y="9525"/>
                  </a:lnTo>
                  <a:lnTo>
                    <a:pt x="85726" y="47625"/>
                  </a:lnTo>
                  <a:lnTo>
                    <a:pt x="85773" y="49054"/>
                  </a:lnTo>
                  <a:cubicBezTo>
                    <a:pt x="86478" y="58425"/>
                    <a:pt x="93911" y="65883"/>
                    <a:pt x="103280" y="66618"/>
                  </a:cubicBezTo>
                  <a:lnTo>
                    <a:pt x="104776" y="66675"/>
                  </a:lnTo>
                  <a:lnTo>
                    <a:pt x="142876" y="66675"/>
                  </a:lnTo>
                  <a:lnTo>
                    <a:pt x="143990" y="66742"/>
                  </a:lnTo>
                  <a:cubicBezTo>
                    <a:pt x="148367" y="67258"/>
                    <a:pt x="151818" y="70709"/>
                    <a:pt x="152334" y="75086"/>
                  </a:cubicBezTo>
                  <a:lnTo>
                    <a:pt x="152401" y="76200"/>
                  </a:lnTo>
                  <a:lnTo>
                    <a:pt x="152401" y="161925"/>
                  </a:lnTo>
                  <a:cubicBezTo>
                    <a:pt x="152402" y="177056"/>
                    <a:pt x="140607" y="189565"/>
                    <a:pt x="125502" y="190452"/>
                  </a:cubicBezTo>
                  <a:lnTo>
                    <a:pt x="123826" y="190500"/>
                  </a:lnTo>
                  <a:lnTo>
                    <a:pt x="28576" y="190500"/>
                  </a:lnTo>
                  <a:cubicBezTo>
                    <a:pt x="13445" y="190501"/>
                    <a:pt x="936" y="178706"/>
                    <a:pt x="48" y="163601"/>
                  </a:cubicBezTo>
                  <a:lnTo>
                    <a:pt x="1" y="161925"/>
                  </a:lnTo>
                  <a:lnTo>
                    <a:pt x="1" y="28575"/>
                  </a:lnTo>
                  <a:cubicBezTo>
                    <a:pt x="0" y="13444"/>
                    <a:pt x="11794" y="935"/>
                    <a:pt x="26899" y="48"/>
                  </a:cubicBezTo>
                  <a:lnTo>
                    <a:pt x="28576" y="0"/>
                  </a:lnTo>
                  <a:close/>
                  <a:moveTo>
                    <a:pt x="84716" y="81467"/>
                  </a:moveTo>
                  <a:cubicBezTo>
                    <a:pt x="83101" y="78245"/>
                    <a:pt x="79805" y="76210"/>
                    <a:pt x="76201" y="76210"/>
                  </a:cubicBezTo>
                  <a:cubicBezTo>
                    <a:pt x="72596" y="76210"/>
                    <a:pt x="69301" y="78245"/>
                    <a:pt x="67685" y="81467"/>
                  </a:cubicBezTo>
                  <a:lnTo>
                    <a:pt x="39110" y="138617"/>
                  </a:lnTo>
                  <a:cubicBezTo>
                    <a:pt x="37635" y="141569"/>
                    <a:pt x="37793" y="145074"/>
                    <a:pt x="39528" y="147881"/>
                  </a:cubicBezTo>
                  <a:cubicBezTo>
                    <a:pt x="41262" y="150689"/>
                    <a:pt x="44326" y="152398"/>
                    <a:pt x="47626" y="152400"/>
                  </a:cubicBezTo>
                  <a:lnTo>
                    <a:pt x="104776" y="152400"/>
                  </a:lnTo>
                  <a:cubicBezTo>
                    <a:pt x="108076" y="152398"/>
                    <a:pt x="111140" y="150689"/>
                    <a:pt x="112874" y="147881"/>
                  </a:cubicBezTo>
                  <a:cubicBezTo>
                    <a:pt x="114608" y="145074"/>
                    <a:pt x="114766" y="141569"/>
                    <a:pt x="113291" y="138617"/>
                  </a:cubicBezTo>
                  <a:close/>
                  <a:moveTo>
                    <a:pt x="76201" y="107023"/>
                  </a:moveTo>
                  <a:lnTo>
                    <a:pt x="89355" y="133350"/>
                  </a:lnTo>
                  <a:lnTo>
                    <a:pt x="63037" y="133350"/>
                  </a:lnTo>
                  <a:close/>
                  <a:moveTo>
                    <a:pt x="104766" y="9515"/>
                  </a:moveTo>
                  <a:lnTo>
                    <a:pt x="142876" y="47625"/>
                  </a:lnTo>
                  <a:lnTo>
                    <a:pt x="104776" y="47625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1588" y="21645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Step 1：FHX + Setup → Excel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619375"/>
              <a:ext cx="38100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90599" y="2762250"/>
              <a:ext cx="152402" cy="190501"/>
            </a:xfrm>
            <a:custGeom>
              <a:avLst/>
              <a:gdLst/>
              <a:ahLst/>
              <a:cxnLst/>
              <a:rect l="l" t="t" r="r" b="b"/>
              <a:pathLst>
                <a:path w="152402" h="190501">
                  <a:moveTo>
                    <a:pt x="76201" y="0"/>
                  </a:moveTo>
                  <a:lnTo>
                    <a:pt x="77315" y="67"/>
                  </a:lnTo>
                  <a:cubicBezTo>
                    <a:pt x="81692" y="583"/>
                    <a:pt x="85143" y="4034"/>
                    <a:pt x="85659" y="8411"/>
                  </a:cubicBezTo>
                  <a:lnTo>
                    <a:pt x="85726" y="9525"/>
                  </a:lnTo>
                  <a:lnTo>
                    <a:pt x="85726" y="47625"/>
                  </a:lnTo>
                  <a:lnTo>
                    <a:pt x="85773" y="49054"/>
                  </a:lnTo>
                  <a:cubicBezTo>
                    <a:pt x="86478" y="58425"/>
                    <a:pt x="93911" y="65883"/>
                    <a:pt x="103280" y="66618"/>
                  </a:cubicBezTo>
                  <a:lnTo>
                    <a:pt x="104776" y="66675"/>
                  </a:lnTo>
                  <a:lnTo>
                    <a:pt x="142876" y="66675"/>
                  </a:lnTo>
                  <a:lnTo>
                    <a:pt x="143990" y="66742"/>
                  </a:lnTo>
                  <a:cubicBezTo>
                    <a:pt x="148367" y="67258"/>
                    <a:pt x="151818" y="70709"/>
                    <a:pt x="152334" y="75086"/>
                  </a:cubicBezTo>
                  <a:lnTo>
                    <a:pt x="152401" y="76200"/>
                  </a:lnTo>
                  <a:lnTo>
                    <a:pt x="152401" y="161925"/>
                  </a:lnTo>
                  <a:cubicBezTo>
                    <a:pt x="152402" y="177056"/>
                    <a:pt x="140607" y="189565"/>
                    <a:pt x="125502" y="190452"/>
                  </a:cubicBezTo>
                  <a:lnTo>
                    <a:pt x="123826" y="190500"/>
                  </a:lnTo>
                  <a:lnTo>
                    <a:pt x="28576" y="190500"/>
                  </a:lnTo>
                  <a:cubicBezTo>
                    <a:pt x="13445" y="190501"/>
                    <a:pt x="936" y="178706"/>
                    <a:pt x="48" y="163601"/>
                  </a:cubicBezTo>
                  <a:lnTo>
                    <a:pt x="1" y="161925"/>
                  </a:lnTo>
                  <a:lnTo>
                    <a:pt x="1" y="28575"/>
                  </a:lnTo>
                  <a:cubicBezTo>
                    <a:pt x="0" y="13444"/>
                    <a:pt x="11794" y="935"/>
                    <a:pt x="26899" y="48"/>
                  </a:cubicBezTo>
                  <a:lnTo>
                    <a:pt x="28576" y="0"/>
                  </a:lnTo>
                  <a:close/>
                  <a:moveTo>
                    <a:pt x="111510" y="98041"/>
                  </a:moveTo>
                  <a:cubicBezTo>
                    <a:pt x="107791" y="94322"/>
                    <a:pt x="101761" y="94322"/>
                    <a:pt x="98042" y="98041"/>
                  </a:cubicBezTo>
                  <a:lnTo>
                    <a:pt x="66676" y="129397"/>
                  </a:lnTo>
                  <a:lnTo>
                    <a:pt x="54360" y="117091"/>
                  </a:lnTo>
                  <a:cubicBezTo>
                    <a:pt x="51969" y="114615"/>
                    <a:pt x="48427" y="113622"/>
                    <a:pt x="45097" y="114493"/>
                  </a:cubicBezTo>
                  <a:cubicBezTo>
                    <a:pt x="41767" y="115365"/>
                    <a:pt x="39166" y="117966"/>
                    <a:pt x="38294" y="121296"/>
                  </a:cubicBezTo>
                  <a:cubicBezTo>
                    <a:pt x="37423" y="124626"/>
                    <a:pt x="38416" y="128168"/>
                    <a:pt x="40892" y="130559"/>
                  </a:cubicBezTo>
                  <a:lnTo>
                    <a:pt x="59942" y="149609"/>
                  </a:lnTo>
                  <a:cubicBezTo>
                    <a:pt x="63661" y="153328"/>
                    <a:pt x="69691" y="153328"/>
                    <a:pt x="73410" y="149609"/>
                  </a:cubicBezTo>
                  <a:lnTo>
                    <a:pt x="111510" y="111509"/>
                  </a:lnTo>
                  <a:cubicBezTo>
                    <a:pt x="115228" y="107790"/>
                    <a:pt x="115228" y="101760"/>
                    <a:pt x="111510" y="98041"/>
                  </a:cubicBezTo>
                  <a:moveTo>
                    <a:pt x="104776" y="9515"/>
                  </a:moveTo>
                  <a:lnTo>
                    <a:pt x="142876" y="47625"/>
                  </a:lnTo>
                  <a:lnTo>
                    <a:pt x="104776" y="47625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71588" y="2783681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Step 2：3 文件 → 新 FHX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238500"/>
              <a:ext cx="38100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64940" y="3374765"/>
              <a:ext cx="203721" cy="203721"/>
            </a:xfrm>
            <a:custGeom>
              <a:avLst/>
              <a:gdLst/>
              <a:ahLst/>
              <a:cxnLst/>
              <a:rect l="l" t="t" r="r" b="b"/>
              <a:pathLst>
                <a:path w="203721" h="203721">
                  <a:moveTo>
                    <a:pt x="127073" y="26432"/>
                  </a:moveTo>
                  <a:cubicBezTo>
                    <a:pt x="127591" y="28571"/>
                    <a:pt x="129100" y="30334"/>
                    <a:pt x="131133" y="31178"/>
                  </a:cubicBezTo>
                  <a:cubicBezTo>
                    <a:pt x="133166" y="32021"/>
                    <a:pt x="135480" y="31843"/>
                    <a:pt x="137360" y="30699"/>
                  </a:cubicBezTo>
                  <a:cubicBezTo>
                    <a:pt x="160592" y="16554"/>
                    <a:pt x="187176" y="43129"/>
                    <a:pt x="173031" y="66361"/>
                  </a:cubicBezTo>
                  <a:cubicBezTo>
                    <a:pt x="171887" y="68240"/>
                    <a:pt x="171708" y="70552"/>
                    <a:pt x="172549" y="72585"/>
                  </a:cubicBezTo>
                  <a:cubicBezTo>
                    <a:pt x="173390" y="74618"/>
                    <a:pt x="175151" y="76127"/>
                    <a:pt x="177289" y="76648"/>
                  </a:cubicBezTo>
                  <a:cubicBezTo>
                    <a:pt x="203721" y="83058"/>
                    <a:pt x="203721" y="120653"/>
                    <a:pt x="177289" y="127073"/>
                  </a:cubicBezTo>
                  <a:cubicBezTo>
                    <a:pt x="175150" y="127591"/>
                    <a:pt x="173386" y="129100"/>
                    <a:pt x="172543" y="131133"/>
                  </a:cubicBezTo>
                  <a:cubicBezTo>
                    <a:pt x="171700" y="133166"/>
                    <a:pt x="171877" y="135480"/>
                    <a:pt x="173022" y="137360"/>
                  </a:cubicBezTo>
                  <a:cubicBezTo>
                    <a:pt x="187166" y="160592"/>
                    <a:pt x="160592" y="187176"/>
                    <a:pt x="137360" y="173031"/>
                  </a:cubicBezTo>
                  <a:cubicBezTo>
                    <a:pt x="135481" y="171887"/>
                    <a:pt x="133169" y="171708"/>
                    <a:pt x="131136" y="172549"/>
                  </a:cubicBezTo>
                  <a:cubicBezTo>
                    <a:pt x="129103" y="173390"/>
                    <a:pt x="127594" y="175151"/>
                    <a:pt x="127073" y="177289"/>
                  </a:cubicBezTo>
                  <a:cubicBezTo>
                    <a:pt x="120663" y="203721"/>
                    <a:pt x="83068" y="203721"/>
                    <a:pt x="76648" y="177289"/>
                  </a:cubicBezTo>
                  <a:cubicBezTo>
                    <a:pt x="76129" y="175150"/>
                    <a:pt x="74621" y="173386"/>
                    <a:pt x="72588" y="172543"/>
                  </a:cubicBezTo>
                  <a:cubicBezTo>
                    <a:pt x="70555" y="171700"/>
                    <a:pt x="68241" y="171877"/>
                    <a:pt x="66361" y="173022"/>
                  </a:cubicBezTo>
                  <a:cubicBezTo>
                    <a:pt x="43129" y="187166"/>
                    <a:pt x="16545" y="160592"/>
                    <a:pt x="30690" y="137360"/>
                  </a:cubicBezTo>
                  <a:cubicBezTo>
                    <a:pt x="31834" y="135481"/>
                    <a:pt x="32013" y="133169"/>
                    <a:pt x="31172" y="131136"/>
                  </a:cubicBezTo>
                  <a:cubicBezTo>
                    <a:pt x="30330" y="129103"/>
                    <a:pt x="28569" y="127594"/>
                    <a:pt x="26432" y="127073"/>
                  </a:cubicBezTo>
                  <a:cubicBezTo>
                    <a:pt x="0" y="120663"/>
                    <a:pt x="0" y="83068"/>
                    <a:pt x="26432" y="76648"/>
                  </a:cubicBezTo>
                  <a:cubicBezTo>
                    <a:pt x="28571" y="76129"/>
                    <a:pt x="30334" y="74621"/>
                    <a:pt x="31178" y="72588"/>
                  </a:cubicBezTo>
                  <a:cubicBezTo>
                    <a:pt x="32021" y="70555"/>
                    <a:pt x="31843" y="68241"/>
                    <a:pt x="30699" y="66361"/>
                  </a:cubicBezTo>
                  <a:cubicBezTo>
                    <a:pt x="16554" y="43129"/>
                    <a:pt x="43129" y="16545"/>
                    <a:pt x="66361" y="30690"/>
                  </a:cubicBezTo>
                  <a:cubicBezTo>
                    <a:pt x="68238" y="31843"/>
                    <a:pt x="70554" y="32026"/>
                    <a:pt x="72590" y="31184"/>
                  </a:cubicBezTo>
                  <a:cubicBezTo>
                    <a:pt x="74626" y="30341"/>
                    <a:pt x="76134" y="28574"/>
                    <a:pt x="76648" y="26432"/>
                  </a:cubicBezTo>
                  <a:cubicBezTo>
                    <a:pt x="83058" y="0"/>
                    <a:pt x="120653" y="0"/>
                    <a:pt x="127073" y="26432"/>
                  </a:cubicBezTo>
                  <a:close/>
                  <a:moveTo>
                    <a:pt x="101860" y="73285"/>
                  </a:moveTo>
                  <a:cubicBezTo>
                    <a:pt x="86079" y="73285"/>
                    <a:pt x="73285" y="86079"/>
                    <a:pt x="73285" y="101860"/>
                  </a:cubicBezTo>
                  <a:cubicBezTo>
                    <a:pt x="73285" y="117642"/>
                    <a:pt x="86079" y="130435"/>
                    <a:pt x="101860" y="130435"/>
                  </a:cubicBezTo>
                  <a:cubicBezTo>
                    <a:pt x="117642" y="130435"/>
                    <a:pt x="130435" y="117642"/>
                    <a:pt x="130435" y="101860"/>
                  </a:cubicBezTo>
                  <a:cubicBezTo>
                    <a:pt x="130435" y="86079"/>
                    <a:pt x="117642" y="73285"/>
                    <a:pt x="101860" y="73285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71588" y="34028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后台线程执行，界面不卡顿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857625"/>
              <a:ext cx="38100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71550" y="40195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161925" y="0"/>
                  </a:moveTo>
                  <a:cubicBezTo>
                    <a:pt x="177707" y="0"/>
                    <a:pt x="190500" y="12793"/>
                    <a:pt x="190500" y="28575"/>
                  </a:cubicBezTo>
                  <a:lnTo>
                    <a:pt x="190500" y="123825"/>
                  </a:lnTo>
                  <a:cubicBezTo>
                    <a:pt x="190500" y="139607"/>
                    <a:pt x="177707" y="152400"/>
                    <a:pt x="161925" y="152400"/>
                  </a:cubicBezTo>
                  <a:lnTo>
                    <a:pt x="28575" y="152400"/>
                  </a:lnTo>
                  <a:cubicBezTo>
                    <a:pt x="12793" y="152400"/>
                    <a:pt x="0" y="139607"/>
                    <a:pt x="0" y="1238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38195" y="28575"/>
                  </a:moveTo>
                  <a:lnTo>
                    <a:pt x="36986" y="28642"/>
                  </a:lnTo>
                  <a:cubicBezTo>
                    <a:pt x="31981" y="29237"/>
                    <a:pt x="28307" y="33627"/>
                    <a:pt x="28602" y="38658"/>
                  </a:cubicBezTo>
                  <a:cubicBezTo>
                    <a:pt x="28897" y="43689"/>
                    <a:pt x="33060" y="47619"/>
                    <a:pt x="38100" y="47625"/>
                  </a:cubicBezTo>
                  <a:lnTo>
                    <a:pt x="39310" y="47558"/>
                  </a:lnTo>
                  <a:cubicBezTo>
                    <a:pt x="44314" y="46963"/>
                    <a:pt x="47989" y="42573"/>
                    <a:pt x="47693" y="37542"/>
                  </a:cubicBezTo>
                  <a:cubicBezTo>
                    <a:pt x="47398" y="32511"/>
                    <a:pt x="43235" y="28581"/>
                    <a:pt x="38195" y="28575"/>
                  </a:cubicBezTo>
                  <a:close/>
                  <a:moveTo>
                    <a:pt x="66770" y="28575"/>
                  </a:moveTo>
                  <a:lnTo>
                    <a:pt x="65561" y="28642"/>
                  </a:lnTo>
                  <a:cubicBezTo>
                    <a:pt x="60556" y="29237"/>
                    <a:pt x="56882" y="33627"/>
                    <a:pt x="57177" y="38658"/>
                  </a:cubicBezTo>
                  <a:cubicBezTo>
                    <a:pt x="57472" y="43689"/>
                    <a:pt x="61635" y="47619"/>
                    <a:pt x="66675" y="47625"/>
                  </a:cubicBezTo>
                  <a:lnTo>
                    <a:pt x="67885" y="47558"/>
                  </a:lnTo>
                  <a:cubicBezTo>
                    <a:pt x="72889" y="46963"/>
                    <a:pt x="76564" y="42573"/>
                    <a:pt x="76268" y="37542"/>
                  </a:cubicBezTo>
                  <a:cubicBezTo>
                    <a:pt x="75973" y="32511"/>
                    <a:pt x="71810" y="28581"/>
                    <a:pt x="66770" y="28575"/>
                  </a:cubicBez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71588" y="4021931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实时进度条 + 日志输出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4476750"/>
              <a:ext cx="38100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96626" y="4608748"/>
              <a:ext cx="148445" cy="201645"/>
              <a:chOff x="996626" y="4608748"/>
              <a:chExt cx="148445" cy="20164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09650" y="4638673"/>
                <a:ext cx="95625" cy="95985"/>
              </a:xfrm>
              <a:custGeom>
                <a:avLst/>
                <a:gdLst/>
                <a:ahLst/>
                <a:cxnLst/>
                <a:rect l="l" t="t" r="r" b="b"/>
                <a:pathLst>
                  <a:path w="95625" h="95985">
                    <a:moveTo>
                      <a:pt x="47625" y="2"/>
                    </a:moveTo>
                    <a:cubicBezTo>
                      <a:pt x="73659" y="0"/>
                      <a:pt x="94870" y="20904"/>
                      <a:pt x="95248" y="46936"/>
                    </a:cubicBezTo>
                    <a:cubicBezTo>
                      <a:pt x="95625" y="72967"/>
                      <a:pt x="75030" y="94478"/>
                      <a:pt x="49007" y="95232"/>
                    </a:cubicBezTo>
                    <a:cubicBezTo>
                      <a:pt x="22984" y="95985"/>
                      <a:pt x="1178" y="75703"/>
                      <a:pt x="48" y="49693"/>
                    </a:cubicBezTo>
                    <a:lnTo>
                      <a:pt x="0" y="47627"/>
                    </a:lnTo>
                    <a:lnTo>
                      <a:pt x="48" y="45560"/>
                    </a:lnTo>
                    <a:cubicBezTo>
                      <a:pt x="1154" y="20086"/>
                      <a:pt x="22127" y="3"/>
                      <a:pt x="47625" y="2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6626" y="4608748"/>
                <a:ext cx="148445" cy="168887"/>
              </a:xfrm>
              <a:custGeom>
                <a:avLst/>
                <a:gdLst/>
                <a:ahLst/>
                <a:cxnLst/>
                <a:rect l="l" t="t" r="r" b="b"/>
                <a:pathLst>
                  <a:path w="148445" h="168887">
                    <a:moveTo>
                      <a:pt x="90490" y="6134"/>
                    </a:moveTo>
                    <a:cubicBezTo>
                      <a:pt x="93111" y="1573"/>
                      <a:pt x="98931" y="0"/>
                      <a:pt x="103492" y="2619"/>
                    </a:cubicBezTo>
                    <a:cubicBezTo>
                      <a:pt x="131813" y="18897"/>
                      <a:pt x="148445" y="49833"/>
                      <a:pt x="146403" y="82435"/>
                    </a:cubicBezTo>
                    <a:cubicBezTo>
                      <a:pt x="144360" y="115037"/>
                      <a:pt x="123997" y="143656"/>
                      <a:pt x="93866" y="156272"/>
                    </a:cubicBezTo>
                    <a:cubicBezTo>
                      <a:pt x="63735" y="168887"/>
                      <a:pt x="29055" y="163314"/>
                      <a:pt x="4394" y="141893"/>
                    </a:cubicBezTo>
                    <a:cubicBezTo>
                      <a:pt x="422" y="138443"/>
                      <a:pt x="0" y="132425"/>
                      <a:pt x="3451" y="128454"/>
                    </a:cubicBezTo>
                    <a:cubicBezTo>
                      <a:pt x="6902" y="124482"/>
                      <a:pt x="12919" y="124060"/>
                      <a:pt x="16891" y="127511"/>
                    </a:cubicBezTo>
                    <a:cubicBezTo>
                      <a:pt x="36081" y="144179"/>
                      <a:pt x="63066" y="148515"/>
                      <a:pt x="86512" y="138699"/>
                    </a:cubicBezTo>
                    <a:cubicBezTo>
                      <a:pt x="109958" y="128882"/>
                      <a:pt x="125804" y="106613"/>
                      <a:pt x="127394" y="81244"/>
                    </a:cubicBezTo>
                    <a:cubicBezTo>
                      <a:pt x="128984" y="55876"/>
                      <a:pt x="116042" y="31802"/>
                      <a:pt x="94005" y="19135"/>
                    </a:cubicBezTo>
                    <a:cubicBezTo>
                      <a:pt x="89445" y="16515"/>
                      <a:pt x="87871" y="10695"/>
                      <a:pt x="90490" y="6134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47750" y="4752975"/>
                <a:ext cx="19050" cy="57418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57418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47625"/>
                    </a:lnTo>
                    <a:cubicBezTo>
                      <a:pt x="19044" y="52665"/>
                      <a:pt x="15114" y="56828"/>
                      <a:pt x="10083" y="57123"/>
                    </a:cubicBezTo>
                    <a:cubicBezTo>
                      <a:pt x="5052" y="57418"/>
                      <a:pt x="662" y="53744"/>
                      <a:pt x="67" y="48739"/>
                    </a:cubicBezTo>
                    <a:lnTo>
                      <a:pt x="0" y="47625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09382" y="4791075"/>
                <a:ext cx="9578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787" h="19050">
                    <a:moveTo>
                      <a:pt x="85993" y="0"/>
                    </a:moveTo>
                    <a:cubicBezTo>
                      <a:pt x="91033" y="6"/>
                      <a:pt x="95196" y="3936"/>
                      <a:pt x="95491" y="8967"/>
                    </a:cubicBezTo>
                    <a:cubicBezTo>
                      <a:pt x="95787" y="13998"/>
                      <a:pt x="92112" y="18388"/>
                      <a:pt x="87108" y="18983"/>
                    </a:cubicBezTo>
                    <a:lnTo>
                      <a:pt x="85993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85993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71588" y="4641056"/>
              <a:ext cx="1116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GUI + CLI 双模式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143500" y="1047750"/>
            <a:ext cx="6477000" cy="5048250"/>
            <a:chOff x="5143500" y="1047750"/>
            <a:chExt cx="6477000" cy="5048250"/>
          </a:xfrm>
        </p:grpSpPr>
        <p:sp>
          <p:nvSpPr>
            <p:cNvPr id="31" name="Rectangle 31"/>
            <p:cNvSpPr/>
            <p:nvPr/>
          </p:nvSpPr>
          <p:spPr>
            <a:xfrm>
              <a:off x="5143500" y="1047750"/>
              <a:ext cx="6477000" cy="5048250"/>
            </a:xfrm>
            <a:prstGeom prst="roundRect">
              <a:avLst>
                <a:gd name="adj" fmla="val 1887"/>
              </a:avLst>
            </a:prstGeom>
            <a:solidFill>
              <a:srgbClr val="F0F0F0"/>
            </a:solidFill>
            <a:ln w="14288">
              <a:solidFill>
                <a:srgbClr val="CCCCCC"/>
              </a:solidFill>
            </a:ln>
            <a:effectLst>
              <a:outerShdw blurRad="114300" dist="28575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5143500" y="1047750"/>
              <a:ext cx="6477000" cy="304800"/>
            </a:xfrm>
            <a:prstGeom prst="roundRect">
              <a:avLst>
                <a:gd name="adj" fmla="val 3125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43500" y="1257300"/>
              <a:ext cx="6477000" cy="9525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22570" y="1160145"/>
              <a:ext cx="16232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DeltaV FHX Nameset Editor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10991850" y="1143000"/>
              <a:ext cx="114300" cy="1143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182350" y="1143000"/>
              <a:ext cx="114300" cy="1143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372850" y="1143000"/>
              <a:ext cx="114300" cy="1143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25428" y="1470184"/>
              <a:ext cx="18938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Author: Jared.Ji (Jared.Ji@emerson.com)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38750" y="1619250"/>
              <a:ext cx="628650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2570" y="1712595"/>
              <a:ext cx="1931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Step 1: Compare FHX with Setup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23522" y="19588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FHX File: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91250" y="1933575"/>
              <a:ext cx="4191000" cy="2095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29350" y="1995488"/>
              <a:ext cx="95916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C:\...\library.fhx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77500" y="1933575"/>
              <a:ext cx="762000" cy="209550"/>
            </a:xfrm>
            <a:prstGeom prst="roundRect">
              <a:avLst>
                <a:gd name="adj" fmla="val 13636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91443" y="199548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Browse...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23522" y="2244566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New Database.fhx: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191250" y="2219325"/>
              <a:ext cx="4191000" cy="2095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29350" y="2281238"/>
              <a:ext cx="127920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C:\...\New Database.fhx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2219325"/>
              <a:ext cx="762000" cy="209550"/>
            </a:xfrm>
            <a:prstGeom prst="roundRect">
              <a:avLst>
                <a:gd name="adj" fmla="val 13636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91443" y="228123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Browse...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0" y="2524125"/>
              <a:ext cx="1905000" cy="333375"/>
            </a:xfrm>
            <a:prstGeom prst="roundRect">
              <a:avLst>
                <a:gd name="adj" fmla="val 14286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93772" y="2636520"/>
              <a:ext cx="15854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Compare and Export Excel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38750" y="3333750"/>
              <a:ext cx="62865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322570" y="3427095"/>
              <a:ext cx="27006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Step 2: Generate New FHX from Edited Excel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23522" y="36733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FHX File: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191250" y="3648075"/>
              <a:ext cx="4191000" cy="2095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477500" y="3648075"/>
              <a:ext cx="762000" cy="209550"/>
            </a:xfrm>
            <a:prstGeom prst="roundRect">
              <a:avLst>
                <a:gd name="adj" fmla="val 13636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591443" y="370998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Browse...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23522" y="3959066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New Database.fhx: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91250" y="3933825"/>
              <a:ext cx="4191000" cy="2095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77500" y="3933825"/>
              <a:ext cx="762000" cy="209550"/>
            </a:xfrm>
            <a:prstGeom prst="roundRect">
              <a:avLst>
                <a:gd name="adj" fmla="val 13636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591443" y="399573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Browse...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23522" y="4244816"/>
              <a:ext cx="7250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Edited Excel: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191250" y="4219575"/>
              <a:ext cx="4191000" cy="2095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477500" y="4219575"/>
              <a:ext cx="762000" cy="209550"/>
            </a:xfrm>
            <a:prstGeom prst="roundRect">
              <a:avLst>
                <a:gd name="adj" fmla="val 13636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591443" y="428148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Browse...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0" y="4524375"/>
              <a:ext cx="1714500" cy="333375"/>
            </a:xfrm>
            <a:prstGeom prst="roundRect">
              <a:avLst>
                <a:gd name="adj" fmla="val 14286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44253" y="4636770"/>
              <a:ext cx="10939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Generate New FHX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143750" y="4524375"/>
              <a:ext cx="952500" cy="333375"/>
            </a:xfrm>
            <a:prstGeom prst="roundRect">
              <a:avLst>
                <a:gd name="adj" fmla="val 14286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364742" y="4644866"/>
              <a:ext cx="5105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Clear Log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5429250"/>
              <a:ext cx="6286500" cy="190500"/>
            </a:xfrm>
            <a:prstGeom prst="roundRect">
              <a:avLst>
                <a:gd name="adj" fmla="val 20000"/>
              </a:avLst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238750" y="5429250"/>
              <a:ext cx="3333750" cy="190500"/>
            </a:xfrm>
            <a:prstGeom prst="roundRect">
              <a:avLst>
                <a:gd name="adj" fmla="val 20000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58225" y="5491162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52%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238750" y="5667375"/>
              <a:ext cx="6286500" cy="333375"/>
            </a:xfrm>
            <a:prstGeom prst="roundRect">
              <a:avLst>
                <a:gd name="adj" fmla="val 11429"/>
              </a:avLst>
            </a:prstGeom>
            <a:solidFill>
              <a:srgbClr val="1E1E1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325428" y="5785009"/>
              <a:ext cx="23799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[INFO] Comparing ENUMERATION_SET... 42 items found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376238"/>
            <a:ext cx="1317308" cy="457200"/>
            <a:chOff x="733425" y="376238"/>
            <a:chExt cx="1317308" cy="457200"/>
          </a:xfrm>
        </p:grpSpPr>
        <p:sp>
          <p:nvSpPr>
            <p:cNvPr id="4" name="TextBox 4"/>
            <p:cNvSpPr txBox="1"/>
            <p:nvPr/>
          </p:nvSpPr>
          <p:spPr>
            <a:xfrm>
              <a:off x="733425" y="376238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技术架构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620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71500" y="1047750"/>
            <a:ext cx="3524250" cy="4191000"/>
            <a:chOff x="571500" y="1047750"/>
            <a:chExt cx="352425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524250" cy="41910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333500"/>
              <a:ext cx="3524250" cy="1905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66354" y="12325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984633" y="1817688"/>
              <a:ext cx="202792" cy="155960"/>
            </a:xfrm>
            <a:custGeom>
              <a:avLst/>
              <a:gdLst/>
              <a:ahLst/>
              <a:cxnLst/>
              <a:rect l="l" t="t" r="r" b="b"/>
              <a:pathLst>
                <a:path w="202792" h="155960">
                  <a:moveTo>
                    <a:pt x="200052" y="95045"/>
                  </a:moveTo>
                  <a:cubicBezTo>
                    <a:pt x="202792" y="100532"/>
                    <a:pt x="200569" y="107202"/>
                    <a:pt x="195084" y="109947"/>
                  </a:cubicBezTo>
                  <a:lnTo>
                    <a:pt x="106184" y="154397"/>
                  </a:lnTo>
                  <a:cubicBezTo>
                    <a:pt x="103057" y="155960"/>
                    <a:pt x="99377" y="155960"/>
                    <a:pt x="96250" y="154397"/>
                  </a:cubicBezTo>
                  <a:lnTo>
                    <a:pt x="7350" y="109947"/>
                  </a:lnTo>
                  <a:cubicBezTo>
                    <a:pt x="2066" y="107098"/>
                    <a:pt x="0" y="100566"/>
                    <a:pt x="2685" y="95196"/>
                  </a:cubicBezTo>
                  <a:cubicBezTo>
                    <a:pt x="5370" y="89827"/>
                    <a:pt x="11834" y="87560"/>
                    <a:pt x="17284" y="90078"/>
                  </a:cubicBezTo>
                  <a:lnTo>
                    <a:pt x="101217" y="132016"/>
                  </a:lnTo>
                  <a:lnTo>
                    <a:pt x="185161" y="90067"/>
                  </a:lnTo>
                  <a:cubicBezTo>
                    <a:pt x="190648" y="87327"/>
                    <a:pt x="197317" y="89550"/>
                    <a:pt x="200063" y="95034"/>
                  </a:cubicBezTo>
                  <a:moveTo>
                    <a:pt x="101306" y="0"/>
                  </a:moveTo>
                  <a:cubicBezTo>
                    <a:pt x="101721" y="0"/>
                    <a:pt x="102132" y="26"/>
                    <a:pt x="102539" y="78"/>
                  </a:cubicBezTo>
                  <a:lnTo>
                    <a:pt x="103773" y="300"/>
                  </a:lnTo>
                  <a:lnTo>
                    <a:pt x="104729" y="567"/>
                  </a:lnTo>
                  <a:lnTo>
                    <a:pt x="104862" y="633"/>
                  </a:lnTo>
                  <a:lnTo>
                    <a:pt x="104995" y="656"/>
                  </a:lnTo>
                  <a:lnTo>
                    <a:pt x="105318" y="811"/>
                  </a:lnTo>
                  <a:lnTo>
                    <a:pt x="105873" y="1022"/>
                  </a:lnTo>
                  <a:lnTo>
                    <a:pt x="106051" y="1122"/>
                  </a:lnTo>
                  <a:lnTo>
                    <a:pt x="106184" y="1178"/>
                  </a:lnTo>
                  <a:lnTo>
                    <a:pt x="195084" y="45628"/>
                  </a:lnTo>
                  <a:cubicBezTo>
                    <a:pt x="198844" y="47512"/>
                    <a:pt x="201218" y="51357"/>
                    <a:pt x="201218" y="55562"/>
                  </a:cubicBezTo>
                  <a:cubicBezTo>
                    <a:pt x="201218" y="59768"/>
                    <a:pt x="198844" y="63613"/>
                    <a:pt x="195084" y="65497"/>
                  </a:cubicBezTo>
                  <a:lnTo>
                    <a:pt x="106184" y="109947"/>
                  </a:lnTo>
                  <a:cubicBezTo>
                    <a:pt x="103057" y="111510"/>
                    <a:pt x="99377" y="111510"/>
                    <a:pt x="96250" y="109947"/>
                  </a:cubicBezTo>
                  <a:lnTo>
                    <a:pt x="7350" y="65497"/>
                  </a:lnTo>
                  <a:cubicBezTo>
                    <a:pt x="3590" y="63613"/>
                    <a:pt x="1216" y="59768"/>
                    <a:pt x="1216" y="55562"/>
                  </a:cubicBezTo>
                  <a:cubicBezTo>
                    <a:pt x="1216" y="51357"/>
                    <a:pt x="3590" y="47512"/>
                    <a:pt x="7350" y="45628"/>
                  </a:cubicBezTo>
                  <a:lnTo>
                    <a:pt x="96250" y="1178"/>
                  </a:lnTo>
                  <a:lnTo>
                    <a:pt x="96372" y="1122"/>
                  </a:lnTo>
                  <a:lnTo>
                    <a:pt x="96572" y="1011"/>
                  </a:lnTo>
                  <a:lnTo>
                    <a:pt x="97439" y="656"/>
                  </a:lnTo>
                  <a:lnTo>
                    <a:pt x="97561" y="633"/>
                  </a:lnTo>
                  <a:lnTo>
                    <a:pt x="97705" y="567"/>
                  </a:lnTo>
                  <a:lnTo>
                    <a:pt x="98661" y="300"/>
                  </a:lnTo>
                  <a:lnTo>
                    <a:pt x="99884" y="78"/>
                  </a:lnTo>
                  <a:lnTo>
                    <a:pt x="100506" y="22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9212" y="1831181"/>
              <a:ext cx="9028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Python 3.13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0118" y="20664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核心语言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22860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74725" y="2501900"/>
              <a:ext cx="222250" cy="177800"/>
            </a:xfrm>
            <a:custGeom>
              <a:avLst/>
              <a:gdLst/>
              <a:ahLst/>
              <a:cxnLst/>
              <a:rect l="l" t="t" r="r" b="b"/>
              <a:pathLst>
                <a:path w="222250" h="177800">
                  <a:moveTo>
                    <a:pt x="188913" y="0"/>
                  </a:moveTo>
                  <a:cubicBezTo>
                    <a:pt x="207324" y="0"/>
                    <a:pt x="222250" y="14926"/>
                    <a:pt x="222250" y="33338"/>
                  </a:cubicBezTo>
                  <a:lnTo>
                    <a:pt x="222250" y="144462"/>
                  </a:lnTo>
                  <a:cubicBezTo>
                    <a:pt x="222250" y="162874"/>
                    <a:pt x="207324" y="177800"/>
                    <a:pt x="188913" y="177800"/>
                  </a:cubicBezTo>
                  <a:lnTo>
                    <a:pt x="33338" y="177800"/>
                  </a:lnTo>
                  <a:cubicBezTo>
                    <a:pt x="14926" y="177800"/>
                    <a:pt x="0" y="162874"/>
                    <a:pt x="0" y="144462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  <a:moveTo>
                    <a:pt x="44561" y="33338"/>
                  </a:moveTo>
                  <a:lnTo>
                    <a:pt x="43150" y="33415"/>
                  </a:lnTo>
                  <a:cubicBezTo>
                    <a:pt x="37311" y="34110"/>
                    <a:pt x="33024" y="39232"/>
                    <a:pt x="33369" y="45101"/>
                  </a:cubicBezTo>
                  <a:cubicBezTo>
                    <a:pt x="33713" y="50971"/>
                    <a:pt x="38570" y="55556"/>
                    <a:pt x="44450" y="55562"/>
                  </a:cubicBezTo>
                  <a:lnTo>
                    <a:pt x="45861" y="55485"/>
                  </a:lnTo>
                  <a:cubicBezTo>
                    <a:pt x="51700" y="54790"/>
                    <a:pt x="55987" y="49668"/>
                    <a:pt x="55642" y="43799"/>
                  </a:cubicBezTo>
                  <a:cubicBezTo>
                    <a:pt x="55298" y="37929"/>
                    <a:pt x="50441" y="33344"/>
                    <a:pt x="44561" y="33338"/>
                  </a:cubicBezTo>
                  <a:close/>
                  <a:moveTo>
                    <a:pt x="77899" y="33338"/>
                  </a:moveTo>
                  <a:lnTo>
                    <a:pt x="76487" y="33415"/>
                  </a:lnTo>
                  <a:cubicBezTo>
                    <a:pt x="70649" y="34110"/>
                    <a:pt x="66362" y="39232"/>
                    <a:pt x="66706" y="45101"/>
                  </a:cubicBezTo>
                  <a:cubicBezTo>
                    <a:pt x="67051" y="50971"/>
                    <a:pt x="71908" y="55556"/>
                    <a:pt x="77788" y="55562"/>
                  </a:cubicBezTo>
                  <a:lnTo>
                    <a:pt x="79199" y="55485"/>
                  </a:lnTo>
                  <a:cubicBezTo>
                    <a:pt x="85037" y="54790"/>
                    <a:pt x="89324" y="49668"/>
                    <a:pt x="88980" y="43799"/>
                  </a:cubicBezTo>
                  <a:cubicBezTo>
                    <a:pt x="88635" y="37929"/>
                    <a:pt x="83778" y="33344"/>
                    <a:pt x="77899" y="33338"/>
                  </a:cubicBez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19212" y="2526506"/>
              <a:ext cx="8634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tkinter GUI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0118" y="27617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图形界面框架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298132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85837" y="3186112"/>
              <a:ext cx="200027" cy="200026"/>
              <a:chOff x="985837" y="3186112"/>
              <a:chExt cx="200027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85838" y="3275012"/>
                <a:ext cx="66675" cy="11112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1126">
                    <a:moveTo>
                      <a:pt x="11113" y="0"/>
                    </a:move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00012"/>
                    </a:lnTo>
                    <a:cubicBezTo>
                      <a:pt x="66675" y="106150"/>
                      <a:pt x="61700" y="111125"/>
                      <a:pt x="55562" y="111125"/>
                    </a:cubicBezTo>
                    <a:lnTo>
                      <a:pt x="33338" y="111125"/>
                    </a:lnTo>
                    <a:cubicBezTo>
                      <a:pt x="15685" y="111126"/>
                      <a:pt x="1091" y="97366"/>
                      <a:pt x="56" y="79743"/>
                    </a:cubicBezTo>
                    <a:lnTo>
                      <a:pt x="0" y="77788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74738" y="3275012"/>
                <a:ext cx="11112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6" h="111125">
                    <a:moveTo>
                      <a:pt x="111125" y="11113"/>
                    </a:moveTo>
                    <a:lnTo>
                      <a:pt x="111125" y="77788"/>
                    </a:lnTo>
                    <a:cubicBezTo>
                      <a:pt x="111126" y="95440"/>
                      <a:pt x="97366" y="110034"/>
                      <a:pt x="79743" y="111069"/>
                    </a:cubicBezTo>
                    <a:lnTo>
                      <a:pt x="77787" y="111125"/>
                    </a:lnTo>
                    <a:lnTo>
                      <a:pt x="11112" y="111125"/>
                    </a:lnTo>
                    <a:cubicBezTo>
                      <a:pt x="4975" y="111125"/>
                      <a:pt x="0" y="106150"/>
                      <a:pt x="0" y="100012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  <a:lnTo>
                      <a:pt x="100012" y="0"/>
                    </a:lnTo>
                    <a:cubicBezTo>
                      <a:pt x="106150" y="0"/>
                      <a:pt x="111125" y="4975"/>
                      <a:pt x="111125" y="11113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4738" y="3186112"/>
                <a:ext cx="111125" cy="66676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6676">
                    <a:moveTo>
                      <a:pt x="77788" y="1"/>
                    </a:moveTo>
                    <a:cubicBezTo>
                      <a:pt x="95440" y="0"/>
                      <a:pt x="110034" y="13760"/>
                      <a:pt x="111069" y="31383"/>
                    </a:cubicBezTo>
                    <a:lnTo>
                      <a:pt x="111125" y="33338"/>
                    </a:lnTo>
                    <a:lnTo>
                      <a:pt x="111125" y="55563"/>
                    </a:lnTo>
                    <a:cubicBezTo>
                      <a:pt x="111125" y="61701"/>
                      <a:pt x="106150" y="66676"/>
                      <a:pt x="100013" y="66676"/>
                    </a:cubicBezTo>
                    <a:lnTo>
                      <a:pt x="11113" y="66676"/>
                    </a:lnTo>
                    <a:cubicBezTo>
                      <a:pt x="4975" y="66676"/>
                      <a:pt x="0" y="61701"/>
                      <a:pt x="0" y="55563"/>
                    </a:cubicBezTo>
                    <a:lnTo>
                      <a:pt x="0" y="11113"/>
                    </a:lnTo>
                    <a:cubicBezTo>
                      <a:pt x="0" y="4976"/>
                      <a:pt x="4975" y="1"/>
                      <a:pt x="11113" y="1"/>
                    </a:cubicBezTo>
                    <a:lnTo>
                      <a:pt x="77788" y="1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85837" y="3186112"/>
                <a:ext cx="66676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6" h="66675">
                    <a:moveTo>
                      <a:pt x="66676" y="11113"/>
                    </a:moveTo>
                    <a:lnTo>
                      <a:pt x="66676" y="55562"/>
                    </a:lnTo>
                    <a:cubicBezTo>
                      <a:pt x="66676" y="61700"/>
                      <a:pt x="61701" y="66675"/>
                      <a:pt x="55563" y="66675"/>
                    </a:cubicBezTo>
                    <a:lnTo>
                      <a:pt x="11113" y="66675"/>
                    </a:lnTo>
                    <a:cubicBezTo>
                      <a:pt x="4976" y="66675"/>
                      <a:pt x="1" y="61700"/>
                      <a:pt x="1" y="55562"/>
                    </a:cubicBez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lnTo>
                      <a:pt x="55563" y="0"/>
                    </a:lnTo>
                    <a:cubicBezTo>
                      <a:pt x="61701" y="0"/>
                      <a:pt x="66676" y="4975"/>
                      <a:pt x="66676" y="11113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19212" y="32218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openpyxl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3457099"/>
              <a:ext cx="7788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Excel 读写库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52500" y="36766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85838" y="3881438"/>
              <a:ext cx="200025" cy="211138"/>
            </a:xfrm>
            <a:custGeom>
              <a:avLst/>
              <a:gdLst/>
              <a:ahLst/>
              <a:cxnLst/>
              <a:rect l="l" t="t" r="r" b="b"/>
              <a:pathLst>
                <a:path w="200025" h="211138">
                  <a:moveTo>
                    <a:pt x="188913" y="144463"/>
                  </a:moveTo>
                  <a:cubicBezTo>
                    <a:pt x="195050" y="144463"/>
                    <a:pt x="200025" y="149438"/>
                    <a:pt x="200025" y="155575"/>
                  </a:cubicBezTo>
                  <a:lnTo>
                    <a:pt x="200025" y="177800"/>
                  </a:lnTo>
                  <a:cubicBezTo>
                    <a:pt x="200025" y="196212"/>
                    <a:pt x="185099" y="211138"/>
                    <a:pt x="166688" y="211138"/>
                  </a:cubicBezTo>
                  <a:lnTo>
                    <a:pt x="33338" y="211138"/>
                  </a:lnTo>
                  <a:cubicBezTo>
                    <a:pt x="14926" y="211138"/>
                    <a:pt x="0" y="196212"/>
                    <a:pt x="0" y="177800"/>
                  </a:cubicBezTo>
                  <a:lnTo>
                    <a:pt x="0" y="155575"/>
                  </a:lnTo>
                  <a:cubicBezTo>
                    <a:pt x="0" y="149438"/>
                    <a:pt x="4975" y="144463"/>
                    <a:pt x="11113" y="144463"/>
                  </a:cubicBezTo>
                  <a:cubicBezTo>
                    <a:pt x="17250" y="144463"/>
                    <a:pt x="22225" y="149438"/>
                    <a:pt x="22225" y="155575"/>
                  </a:cubicBezTo>
                  <a:lnTo>
                    <a:pt x="22225" y="177800"/>
                  </a:lnTo>
                  <a:cubicBezTo>
                    <a:pt x="22225" y="183937"/>
                    <a:pt x="27200" y="188912"/>
                    <a:pt x="33338" y="188912"/>
                  </a:cubicBezTo>
                  <a:lnTo>
                    <a:pt x="166688" y="188912"/>
                  </a:lnTo>
                  <a:cubicBezTo>
                    <a:pt x="172825" y="188912"/>
                    <a:pt x="177800" y="183937"/>
                    <a:pt x="177800" y="177800"/>
                  </a:cubicBezTo>
                  <a:lnTo>
                    <a:pt x="177800" y="155575"/>
                  </a:lnTo>
                  <a:cubicBezTo>
                    <a:pt x="177800" y="149438"/>
                    <a:pt x="182775" y="144463"/>
                    <a:pt x="188913" y="144463"/>
                  </a:cubicBezTo>
                  <a:moveTo>
                    <a:pt x="100012" y="0"/>
                  </a:moveTo>
                  <a:cubicBezTo>
                    <a:pt x="106150" y="0"/>
                    <a:pt x="111125" y="4975"/>
                    <a:pt x="111125" y="11113"/>
                  </a:cubicBezTo>
                  <a:lnTo>
                    <a:pt x="111125" y="117626"/>
                  </a:lnTo>
                  <a:lnTo>
                    <a:pt x="147718" y="81043"/>
                  </a:lnTo>
                  <a:cubicBezTo>
                    <a:pt x="152079" y="76832"/>
                    <a:pt x="159010" y="76892"/>
                    <a:pt x="163296" y="81179"/>
                  </a:cubicBezTo>
                  <a:cubicBezTo>
                    <a:pt x="167583" y="85465"/>
                    <a:pt x="167643" y="92396"/>
                    <a:pt x="163432" y="96757"/>
                  </a:cubicBezTo>
                  <a:lnTo>
                    <a:pt x="107869" y="152319"/>
                  </a:lnTo>
                  <a:cubicBezTo>
                    <a:pt x="107554" y="152635"/>
                    <a:pt x="107220" y="152932"/>
                    <a:pt x="106869" y="153208"/>
                  </a:cubicBezTo>
                  <a:lnTo>
                    <a:pt x="107869" y="152319"/>
                  </a:lnTo>
                  <a:cubicBezTo>
                    <a:pt x="105874" y="154312"/>
                    <a:pt x="103197" y="155472"/>
                    <a:pt x="100379" y="155564"/>
                  </a:cubicBezTo>
                  <a:lnTo>
                    <a:pt x="100012" y="155575"/>
                  </a:lnTo>
                  <a:lnTo>
                    <a:pt x="99657" y="155575"/>
                  </a:lnTo>
                  <a:lnTo>
                    <a:pt x="99057" y="155531"/>
                  </a:lnTo>
                  <a:lnTo>
                    <a:pt x="100012" y="155575"/>
                  </a:lnTo>
                  <a:cubicBezTo>
                    <a:pt x="97527" y="155575"/>
                    <a:pt x="95112" y="154742"/>
                    <a:pt x="93156" y="153208"/>
                  </a:cubicBezTo>
                  <a:cubicBezTo>
                    <a:pt x="92805" y="152932"/>
                    <a:pt x="92471" y="152635"/>
                    <a:pt x="92156" y="152319"/>
                  </a:cubicBezTo>
                  <a:lnTo>
                    <a:pt x="36593" y="96757"/>
                  </a:lnTo>
                  <a:cubicBezTo>
                    <a:pt x="32382" y="92396"/>
                    <a:pt x="32442" y="85465"/>
                    <a:pt x="36729" y="81179"/>
                  </a:cubicBezTo>
                  <a:cubicBezTo>
                    <a:pt x="41015" y="76892"/>
                    <a:pt x="47946" y="76832"/>
                    <a:pt x="52307" y="81043"/>
                  </a:cubicBezTo>
                  <a:lnTo>
                    <a:pt x="88900" y="117626"/>
                  </a:lnTo>
                  <a:lnTo>
                    <a:pt x="88900" y="11113"/>
                  </a:lnTo>
                  <a:cubicBezTo>
                    <a:pt x="88900" y="4975"/>
                    <a:pt x="93875" y="0"/>
                    <a:pt x="100012" y="0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19212" y="3917156"/>
              <a:ext cx="8634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PyInstaller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0118" y="4152424"/>
              <a:ext cx="9998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打包为独立 .exe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52500" y="43719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96949" y="4565650"/>
              <a:ext cx="177802" cy="222251"/>
            </a:xfrm>
            <a:custGeom>
              <a:avLst/>
              <a:gdLst/>
              <a:ahLst/>
              <a:cxnLst/>
              <a:rect l="l" t="t" r="r" b="b"/>
              <a:pathLst>
                <a:path w="177802" h="222251">
                  <a:moveTo>
                    <a:pt x="88901" y="0"/>
                  </a:moveTo>
                  <a:lnTo>
                    <a:pt x="90201" y="78"/>
                  </a:lnTo>
                  <a:cubicBezTo>
                    <a:pt x="95307" y="680"/>
                    <a:pt x="99334" y="4706"/>
                    <a:pt x="99936" y="9812"/>
                  </a:cubicBezTo>
                  <a:lnTo>
                    <a:pt x="100013" y="11113"/>
                  </a:lnTo>
                  <a:lnTo>
                    <a:pt x="100013" y="55563"/>
                  </a:lnTo>
                  <a:lnTo>
                    <a:pt x="100069" y="57229"/>
                  </a:lnTo>
                  <a:cubicBezTo>
                    <a:pt x="100891" y="68163"/>
                    <a:pt x="109563" y="76864"/>
                    <a:pt x="120494" y="77721"/>
                  </a:cubicBezTo>
                  <a:lnTo>
                    <a:pt x="122238" y="77788"/>
                  </a:lnTo>
                  <a:lnTo>
                    <a:pt x="166688" y="77788"/>
                  </a:lnTo>
                  <a:lnTo>
                    <a:pt x="167989" y="77865"/>
                  </a:lnTo>
                  <a:cubicBezTo>
                    <a:pt x="173095" y="78467"/>
                    <a:pt x="177121" y="82494"/>
                    <a:pt x="177723" y="87600"/>
                  </a:cubicBezTo>
                  <a:lnTo>
                    <a:pt x="177801" y="88900"/>
                  </a:lnTo>
                  <a:lnTo>
                    <a:pt x="177801" y="188913"/>
                  </a:lnTo>
                  <a:cubicBezTo>
                    <a:pt x="177802" y="206565"/>
                    <a:pt x="164042" y="221159"/>
                    <a:pt x="146419" y="222194"/>
                  </a:cubicBezTo>
                  <a:lnTo>
                    <a:pt x="144463" y="222250"/>
                  </a:lnTo>
                  <a:lnTo>
                    <a:pt x="33338" y="222250"/>
                  </a:lnTo>
                  <a:cubicBezTo>
                    <a:pt x="15686" y="222251"/>
                    <a:pt x="1092" y="208491"/>
                    <a:pt x="57" y="190868"/>
                  </a:cubicBezTo>
                  <a:lnTo>
                    <a:pt x="1" y="188913"/>
                  </a:lnTo>
                  <a:lnTo>
                    <a:pt x="1" y="33338"/>
                  </a:lnTo>
                  <a:cubicBezTo>
                    <a:pt x="0" y="15685"/>
                    <a:pt x="13760" y="1091"/>
                    <a:pt x="31383" y="56"/>
                  </a:cubicBezTo>
                  <a:lnTo>
                    <a:pt x="33338" y="0"/>
                  </a:lnTo>
                  <a:close/>
                  <a:moveTo>
                    <a:pt x="98836" y="95045"/>
                  </a:moveTo>
                  <a:cubicBezTo>
                    <a:pt x="96951" y="91286"/>
                    <a:pt x="93106" y="88912"/>
                    <a:pt x="88901" y="88912"/>
                  </a:cubicBezTo>
                  <a:cubicBezTo>
                    <a:pt x="84696" y="88912"/>
                    <a:pt x="80851" y="91286"/>
                    <a:pt x="78966" y="95045"/>
                  </a:cubicBezTo>
                  <a:lnTo>
                    <a:pt x="45629" y="161720"/>
                  </a:lnTo>
                  <a:cubicBezTo>
                    <a:pt x="43908" y="165164"/>
                    <a:pt x="44092" y="169253"/>
                    <a:pt x="46116" y="172528"/>
                  </a:cubicBezTo>
                  <a:cubicBezTo>
                    <a:pt x="48139" y="175803"/>
                    <a:pt x="51714" y="177798"/>
                    <a:pt x="55563" y="177800"/>
                  </a:cubicBezTo>
                  <a:lnTo>
                    <a:pt x="122238" y="177800"/>
                  </a:lnTo>
                  <a:cubicBezTo>
                    <a:pt x="126088" y="177798"/>
                    <a:pt x="129663" y="175803"/>
                    <a:pt x="131686" y="172528"/>
                  </a:cubicBezTo>
                  <a:cubicBezTo>
                    <a:pt x="133710" y="169253"/>
                    <a:pt x="133894" y="165164"/>
                    <a:pt x="132173" y="161720"/>
                  </a:cubicBezTo>
                  <a:close/>
                  <a:moveTo>
                    <a:pt x="88901" y="124860"/>
                  </a:moveTo>
                  <a:lnTo>
                    <a:pt x="104247" y="155575"/>
                  </a:lnTo>
                  <a:lnTo>
                    <a:pt x="73544" y="155575"/>
                  </a:lnTo>
                  <a:close/>
                  <a:moveTo>
                    <a:pt x="122227" y="11101"/>
                  </a:moveTo>
                  <a:lnTo>
                    <a:pt x="166688" y="55563"/>
                  </a:lnTo>
                  <a:lnTo>
                    <a:pt x="122238" y="55563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19212" y="4612481"/>
              <a:ext cx="12099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FHX (UTF-16 LE)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0118" y="48477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文件编码格式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333875" y="1047750"/>
            <a:ext cx="3524250" cy="4191000"/>
            <a:chOff x="4333875" y="1047750"/>
            <a:chExt cx="3524250" cy="4191000"/>
          </a:xfrm>
        </p:grpSpPr>
        <p:sp>
          <p:nvSpPr>
            <p:cNvPr id="35" name="Rectangle 35"/>
            <p:cNvSpPr/>
            <p:nvPr/>
          </p:nvSpPr>
          <p:spPr>
            <a:xfrm>
              <a:off x="4333875" y="1047750"/>
              <a:ext cx="3524250" cy="41910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4333875" y="1047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33875" y="1333500"/>
              <a:ext cx="3524250" cy="1905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4718" y="12325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架构特点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67250" y="1762125"/>
              <a:ext cx="2857500" cy="523875"/>
            </a:xfrm>
            <a:prstGeom prst="roundRect">
              <a:avLst>
                <a:gd name="adj" fmla="val 14545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38574" y="1894999"/>
              <a:ext cx="13148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GUI Layer (tkinter)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98924" y="20826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B0C4DE"/>
                  </a:solidFill>
                  <a:latin typeface="Arial"/>
                  <a:ea typeface="Microsoft YaHei"/>
                  <a:cs typeface="Arial"/>
                </a:rPr>
                <a:t>用户界面 · 文件选择 · 日志输出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29349" y="23307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667250" y="2619375"/>
              <a:ext cx="2857500" cy="523875"/>
            </a:xfrm>
            <a:prstGeom prst="roundRect">
              <a:avLst>
                <a:gd name="adj" fmla="val 14545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83968" y="2752249"/>
              <a:ext cx="14240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Core Engine (Python)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48430" y="2939891"/>
              <a:ext cx="14951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FHX 解析 · 对比 · 翻译 · 生成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9349" y="31880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67250" y="3476625"/>
              <a:ext cx="2857500" cy="523875"/>
            </a:xfrm>
            <a:prstGeom prst="roundRect">
              <a:avLst>
                <a:gd name="adj" fmla="val 14545"/>
              </a:avLst>
            </a:prstGeom>
            <a:solidFill>
              <a:srgbClr val="F3F4F6"/>
            </a:solidFill>
            <a:ln w="9525">
              <a:solidFill>
                <a:srgbClr val="D1D5D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66215" y="3609499"/>
              <a:ext cx="6595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I/O Layer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57669" y="3797141"/>
              <a:ext cx="16766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FHX 读写 · Excel 读写 · 文件验证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9349" y="40452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667250" y="4333875"/>
              <a:ext cx="2857500" cy="523875"/>
            </a:xfrm>
            <a:prstGeom prst="roundRect">
              <a:avLst>
                <a:gd name="adj" fmla="val 14545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43012" y="4466749"/>
              <a:ext cx="1505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Translation Dictionary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2422" y="4654391"/>
              <a:ext cx="16271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DELTA_VALUE_CN_TO_EN (内置)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096250" y="1047750"/>
            <a:ext cx="3524250" cy="4191000"/>
            <a:chOff x="8096250" y="1047750"/>
            <a:chExt cx="3524250" cy="4191000"/>
          </a:xfrm>
        </p:grpSpPr>
        <p:sp>
          <p:nvSpPr>
            <p:cNvPr id="55" name="Rectangle 55"/>
            <p:cNvSpPr/>
            <p:nvPr/>
          </p:nvSpPr>
          <p:spPr>
            <a:xfrm>
              <a:off x="8096250" y="1047750"/>
              <a:ext cx="3524250" cy="41910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6" name="Rectangle 56"/>
            <p:cNvSpPr/>
            <p:nvPr/>
          </p:nvSpPr>
          <p:spPr>
            <a:xfrm>
              <a:off x="8096250" y="1047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96250" y="1333500"/>
              <a:ext cx="3524250" cy="19050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07093" y="12325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运行模式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382000" y="1762125"/>
              <a:ext cx="2952750" cy="952500"/>
            </a:xfrm>
            <a:prstGeom prst="roundRect">
              <a:avLst>
                <a:gd name="adj" fmla="val 8000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591550" y="194310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161925" y="0"/>
                  </a:moveTo>
                  <a:cubicBezTo>
                    <a:pt x="177707" y="0"/>
                    <a:pt x="190500" y="12793"/>
                    <a:pt x="190500" y="28575"/>
                  </a:cubicBezTo>
                  <a:lnTo>
                    <a:pt x="190500" y="123825"/>
                  </a:lnTo>
                  <a:cubicBezTo>
                    <a:pt x="190500" y="139607"/>
                    <a:pt x="177707" y="152400"/>
                    <a:pt x="161925" y="152400"/>
                  </a:cubicBezTo>
                  <a:lnTo>
                    <a:pt x="28575" y="152400"/>
                  </a:lnTo>
                  <a:cubicBezTo>
                    <a:pt x="12793" y="152400"/>
                    <a:pt x="0" y="139607"/>
                    <a:pt x="0" y="1238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38195" y="28575"/>
                  </a:moveTo>
                  <a:lnTo>
                    <a:pt x="36986" y="28642"/>
                  </a:lnTo>
                  <a:cubicBezTo>
                    <a:pt x="31981" y="29237"/>
                    <a:pt x="28307" y="33627"/>
                    <a:pt x="28602" y="38658"/>
                  </a:cubicBezTo>
                  <a:cubicBezTo>
                    <a:pt x="28897" y="43689"/>
                    <a:pt x="33060" y="47619"/>
                    <a:pt x="38100" y="47625"/>
                  </a:cubicBezTo>
                  <a:lnTo>
                    <a:pt x="39310" y="47558"/>
                  </a:lnTo>
                  <a:cubicBezTo>
                    <a:pt x="44314" y="46963"/>
                    <a:pt x="47989" y="42573"/>
                    <a:pt x="47693" y="37542"/>
                  </a:cubicBezTo>
                  <a:cubicBezTo>
                    <a:pt x="47398" y="32511"/>
                    <a:pt x="43235" y="28581"/>
                    <a:pt x="38195" y="28575"/>
                  </a:cubicBezTo>
                  <a:close/>
                  <a:moveTo>
                    <a:pt x="66770" y="28575"/>
                  </a:moveTo>
                  <a:lnTo>
                    <a:pt x="65561" y="28642"/>
                  </a:lnTo>
                  <a:cubicBezTo>
                    <a:pt x="60556" y="29237"/>
                    <a:pt x="56882" y="33627"/>
                    <a:pt x="57177" y="38658"/>
                  </a:cubicBezTo>
                  <a:cubicBezTo>
                    <a:pt x="57472" y="43689"/>
                    <a:pt x="61635" y="47619"/>
                    <a:pt x="66675" y="47625"/>
                  </a:cubicBezTo>
                  <a:lnTo>
                    <a:pt x="67885" y="47558"/>
                  </a:lnTo>
                  <a:cubicBezTo>
                    <a:pt x="72889" y="46963"/>
                    <a:pt x="76564" y="42573"/>
                    <a:pt x="76268" y="37542"/>
                  </a:cubicBezTo>
                  <a:cubicBezTo>
                    <a:pt x="75973" y="32511"/>
                    <a:pt x="71810" y="28581"/>
                    <a:pt x="66770" y="28575"/>
                  </a:cubicBez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91588" y="1955006"/>
              <a:ext cx="611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GUI 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61070" y="2236470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python fhx_migrator.py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61070" y="24555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启动图形界面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382000" y="2905125"/>
              <a:ext cx="2952750" cy="952500"/>
            </a:xfrm>
            <a:prstGeom prst="roundRect">
              <a:avLst>
                <a:gd name="adj" fmla="val 8000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591550" y="308610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161925" y="0"/>
                  </a:moveTo>
                  <a:cubicBezTo>
                    <a:pt x="177707" y="0"/>
                    <a:pt x="190500" y="12793"/>
                    <a:pt x="190500" y="28575"/>
                  </a:cubicBezTo>
                  <a:lnTo>
                    <a:pt x="190500" y="123825"/>
                  </a:lnTo>
                  <a:cubicBezTo>
                    <a:pt x="190500" y="139607"/>
                    <a:pt x="177707" y="152400"/>
                    <a:pt x="161925" y="152400"/>
                  </a:cubicBezTo>
                  <a:lnTo>
                    <a:pt x="28575" y="152400"/>
                  </a:lnTo>
                  <a:cubicBezTo>
                    <a:pt x="12793" y="152400"/>
                    <a:pt x="0" y="139607"/>
                    <a:pt x="0" y="1238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38195" y="28575"/>
                  </a:moveTo>
                  <a:lnTo>
                    <a:pt x="36986" y="28642"/>
                  </a:lnTo>
                  <a:cubicBezTo>
                    <a:pt x="31981" y="29237"/>
                    <a:pt x="28307" y="33627"/>
                    <a:pt x="28602" y="38658"/>
                  </a:cubicBezTo>
                  <a:cubicBezTo>
                    <a:pt x="28897" y="43689"/>
                    <a:pt x="33060" y="47619"/>
                    <a:pt x="38100" y="47625"/>
                  </a:cubicBezTo>
                  <a:lnTo>
                    <a:pt x="39310" y="47558"/>
                  </a:lnTo>
                  <a:cubicBezTo>
                    <a:pt x="44314" y="46963"/>
                    <a:pt x="47989" y="42573"/>
                    <a:pt x="47693" y="37542"/>
                  </a:cubicBezTo>
                  <a:cubicBezTo>
                    <a:pt x="47398" y="32511"/>
                    <a:pt x="43235" y="28581"/>
                    <a:pt x="38195" y="28575"/>
                  </a:cubicBezTo>
                  <a:close/>
                  <a:moveTo>
                    <a:pt x="66770" y="28575"/>
                  </a:moveTo>
                  <a:lnTo>
                    <a:pt x="65561" y="28642"/>
                  </a:lnTo>
                  <a:cubicBezTo>
                    <a:pt x="60556" y="29237"/>
                    <a:pt x="56882" y="33627"/>
                    <a:pt x="57177" y="38658"/>
                  </a:cubicBezTo>
                  <a:cubicBezTo>
                    <a:pt x="57472" y="43689"/>
                    <a:pt x="61635" y="47619"/>
                    <a:pt x="66675" y="47625"/>
                  </a:cubicBezTo>
                  <a:lnTo>
                    <a:pt x="67885" y="47558"/>
                  </a:lnTo>
                  <a:cubicBezTo>
                    <a:pt x="72889" y="46963"/>
                    <a:pt x="76564" y="42573"/>
                    <a:pt x="76268" y="37542"/>
                  </a:cubicBezTo>
                  <a:cubicBezTo>
                    <a:pt x="75973" y="32511"/>
                    <a:pt x="71810" y="28581"/>
                    <a:pt x="66770" y="28575"/>
                  </a:cubicBezTo>
                  <a:close/>
                </a:path>
              </a:pathLst>
            </a:custGeom>
            <a:solidFill>
              <a:srgbClr val="1B3A5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91588" y="3098006"/>
              <a:ext cx="611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CLI 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62975" y="3395662"/>
              <a:ext cx="16342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python fhx_migrator.py compare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62975" y="3538538"/>
              <a:ext cx="166925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python fhx_migrator.py generate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82000" y="4048125"/>
              <a:ext cx="2952750" cy="952500"/>
            </a:xfrm>
            <a:prstGeom prst="roundRect">
              <a:avLst>
                <a:gd name="adj" fmla="val 8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551003" y="4220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关键指标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159" y="4345305"/>
              <a:ext cx="7884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1,904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32856" y="4665345"/>
              <a:ext cx="1451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行 Python 代码（单文件）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4" grpId="0"/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376238"/>
            <a:ext cx="1317308" cy="457200"/>
            <a:chOff x="733425" y="376238"/>
            <a:chExt cx="1317308" cy="457200"/>
          </a:xfrm>
        </p:grpSpPr>
        <p:sp>
          <p:nvSpPr>
            <p:cNvPr id="4" name="TextBox 4"/>
            <p:cNvSpPr txBox="1"/>
            <p:nvPr/>
          </p:nvSpPr>
          <p:spPr>
            <a:xfrm>
              <a:off x="733425" y="376238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核心功能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620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71500" y="1047750"/>
            <a:ext cx="3524250" cy="1666875"/>
            <a:chOff x="571500" y="1047750"/>
            <a:chExt cx="3524250" cy="1666875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524250" cy="1666875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476250" cy="1666875"/>
            </a:xfrm>
            <a:prstGeom prst="roundRect">
              <a:avLst>
                <a:gd name="adj" fmla="val 24000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047750"/>
              <a:ext cx="95250" cy="166687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10213" y="1630828"/>
              <a:ext cx="210297" cy="285665"/>
              <a:chOff x="710213" y="1630828"/>
              <a:chExt cx="210297" cy="28566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28662" y="1673223"/>
                <a:ext cx="135469" cy="135979"/>
              </a:xfrm>
              <a:custGeom>
                <a:avLst/>
                <a:gdLst/>
                <a:ahLst/>
                <a:cxnLst/>
                <a:rect l="l" t="t" r="r" b="b"/>
                <a:pathLst>
                  <a:path w="135469" h="135979">
                    <a:moveTo>
                      <a:pt x="67469" y="2"/>
                    </a:moveTo>
                    <a:cubicBezTo>
                      <a:pt x="104350" y="0"/>
                      <a:pt x="134399" y="29614"/>
                      <a:pt x="134934" y="66492"/>
                    </a:cubicBezTo>
                    <a:cubicBezTo>
                      <a:pt x="135469" y="103370"/>
                      <a:pt x="106293" y="133843"/>
                      <a:pt x="69426" y="134911"/>
                    </a:cubicBezTo>
                    <a:cubicBezTo>
                      <a:pt x="32560" y="135979"/>
                      <a:pt x="1668" y="107246"/>
                      <a:pt x="67" y="70399"/>
                    </a:cubicBezTo>
                    <a:lnTo>
                      <a:pt x="0" y="67471"/>
                    </a:lnTo>
                    <a:lnTo>
                      <a:pt x="67" y="64543"/>
                    </a:lnTo>
                    <a:cubicBezTo>
                      <a:pt x="1635" y="28455"/>
                      <a:pt x="31347" y="4"/>
                      <a:pt x="6746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0213" y="1630828"/>
                <a:ext cx="210297" cy="239257"/>
              </a:xfrm>
              <a:custGeom>
                <a:avLst/>
                <a:gdLst/>
                <a:ahLst/>
                <a:cxnLst/>
                <a:rect l="l" t="t" r="r" b="b"/>
                <a:pathLst>
                  <a:path w="210297" h="239257">
                    <a:moveTo>
                      <a:pt x="128195" y="8689"/>
                    </a:moveTo>
                    <a:cubicBezTo>
                      <a:pt x="131907" y="2229"/>
                      <a:pt x="140152" y="0"/>
                      <a:pt x="146614" y="3710"/>
                    </a:cubicBezTo>
                    <a:cubicBezTo>
                      <a:pt x="186735" y="26770"/>
                      <a:pt x="210297" y="70597"/>
                      <a:pt x="207404" y="116783"/>
                    </a:cubicBezTo>
                    <a:cubicBezTo>
                      <a:pt x="204510" y="162969"/>
                      <a:pt x="175662" y="203513"/>
                      <a:pt x="132977" y="221385"/>
                    </a:cubicBezTo>
                    <a:cubicBezTo>
                      <a:pt x="90291" y="239257"/>
                      <a:pt x="41162" y="231362"/>
                      <a:pt x="6225" y="201016"/>
                    </a:cubicBezTo>
                    <a:cubicBezTo>
                      <a:pt x="598" y="196127"/>
                      <a:pt x="0" y="187603"/>
                      <a:pt x="4889" y="181976"/>
                    </a:cubicBezTo>
                    <a:cubicBezTo>
                      <a:pt x="9778" y="176349"/>
                      <a:pt x="18302" y="175751"/>
                      <a:pt x="23928" y="180640"/>
                    </a:cubicBezTo>
                    <a:cubicBezTo>
                      <a:pt x="51114" y="204253"/>
                      <a:pt x="89344" y="210397"/>
                      <a:pt x="122559" y="196490"/>
                    </a:cubicBezTo>
                    <a:cubicBezTo>
                      <a:pt x="155774" y="182583"/>
                      <a:pt x="178223" y="151035"/>
                      <a:pt x="180475" y="115096"/>
                    </a:cubicBezTo>
                    <a:cubicBezTo>
                      <a:pt x="182727" y="79157"/>
                      <a:pt x="164393" y="45053"/>
                      <a:pt x="133174" y="27108"/>
                    </a:cubicBezTo>
                    <a:cubicBezTo>
                      <a:pt x="126714" y="23396"/>
                      <a:pt x="124485" y="15151"/>
                      <a:pt x="128195" y="86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82638" y="1835150"/>
                <a:ext cx="26987" cy="81343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81343">
                    <a:moveTo>
                      <a:pt x="13494" y="0"/>
                    </a:moveTo>
                    <a:cubicBezTo>
                      <a:pt x="20335" y="1"/>
                      <a:pt x="26093" y="5121"/>
                      <a:pt x="26893" y="11915"/>
                    </a:cubicBezTo>
                    <a:lnTo>
                      <a:pt x="26987" y="13494"/>
                    </a:lnTo>
                    <a:lnTo>
                      <a:pt x="26987" y="67469"/>
                    </a:lnTo>
                    <a:cubicBezTo>
                      <a:pt x="26980" y="74608"/>
                      <a:pt x="21412" y="80506"/>
                      <a:pt x="14285" y="80924"/>
                    </a:cubicBezTo>
                    <a:cubicBezTo>
                      <a:pt x="7157" y="81343"/>
                      <a:pt x="938" y="76137"/>
                      <a:pt x="94" y="69048"/>
                    </a:cubicBezTo>
                    <a:lnTo>
                      <a:pt x="0" y="67469"/>
                    </a:ln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8282" y="1889125"/>
                <a:ext cx="13569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135698" h="26987">
                    <a:moveTo>
                      <a:pt x="121824" y="0"/>
                    </a:moveTo>
                    <a:cubicBezTo>
                      <a:pt x="128963" y="8"/>
                      <a:pt x="134861" y="5576"/>
                      <a:pt x="135280" y="12703"/>
                    </a:cubicBezTo>
                    <a:cubicBezTo>
                      <a:pt x="135698" y="19830"/>
                      <a:pt x="130492" y="26050"/>
                      <a:pt x="123403" y="26893"/>
                    </a:cubicBezTo>
                    <a:lnTo>
                      <a:pt x="121824" y="26987"/>
                    </a:lnTo>
                    <a:lnTo>
                      <a:pt x="13874" y="26987"/>
                    </a:lnTo>
                    <a:cubicBezTo>
                      <a:pt x="6735" y="26980"/>
                      <a:pt x="837" y="21412"/>
                      <a:pt x="418" y="14285"/>
                    </a:cubicBezTo>
                    <a:cubicBezTo>
                      <a:pt x="0" y="7157"/>
                      <a:pt x="5206" y="938"/>
                      <a:pt x="12295" y="94"/>
                    </a:cubicBezTo>
                    <a:lnTo>
                      <a:pt x="13874" y="0"/>
                    </a:lnTo>
                    <a:lnTo>
                      <a:pt x="12182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23010" y="1299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双向翻译字典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5868" y="1561624"/>
              <a:ext cx="17799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内置 DELTA_VALUE_CN_TO_EN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5868" y="1752124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覆盖 $phase_state, $recipe_state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5868" y="1942624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$sfc_action_states 等常见 Nameset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25868" y="2228374"/>
              <a:ext cx="1000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中文 ↔ 英文双向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33875" y="1047750"/>
            <a:ext cx="3524250" cy="1666875"/>
            <a:chOff x="4333875" y="1047750"/>
            <a:chExt cx="3524250" cy="1666875"/>
          </a:xfrm>
        </p:grpSpPr>
        <p:sp>
          <p:nvSpPr>
            <p:cNvPr id="21" name="Rectangle 21"/>
            <p:cNvSpPr/>
            <p:nvPr/>
          </p:nvSpPr>
          <p:spPr>
            <a:xfrm>
              <a:off x="4333875" y="1047750"/>
              <a:ext cx="3524250" cy="1666875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333875" y="1047750"/>
              <a:ext cx="476250" cy="1666875"/>
            </a:xfrm>
            <a:prstGeom prst="roundRect">
              <a:avLst>
                <a:gd name="adj" fmla="val 24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714875" y="1047750"/>
              <a:ext cx="95250" cy="1666875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450555" y="1659730"/>
              <a:ext cx="242890" cy="242890"/>
              <a:chOff x="4450555" y="1659730"/>
              <a:chExt cx="242890" cy="242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450556" y="1767681"/>
                <a:ext cx="80962" cy="134939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34939">
                    <a:moveTo>
                      <a:pt x="13494" y="0"/>
                    </a:moveTo>
                    <a:lnTo>
                      <a:pt x="67469" y="0"/>
                    </a:lnTo>
                    <a:cubicBezTo>
                      <a:pt x="74921" y="0"/>
                      <a:pt x="80962" y="6041"/>
                      <a:pt x="80962" y="13494"/>
                    </a:cubicBezTo>
                    <a:lnTo>
                      <a:pt x="80962" y="121444"/>
                    </a:lnTo>
                    <a:cubicBezTo>
                      <a:pt x="80962" y="128896"/>
                      <a:pt x="74921" y="134937"/>
                      <a:pt x="67469" y="134937"/>
                    </a:cubicBezTo>
                    <a:lnTo>
                      <a:pt x="40481" y="134937"/>
                    </a:lnTo>
                    <a:cubicBezTo>
                      <a:pt x="19046" y="134939"/>
                      <a:pt x="1325" y="118230"/>
                      <a:pt x="67" y="96831"/>
                    </a:cubicBezTo>
                    <a:lnTo>
                      <a:pt x="0" y="94456"/>
                    </a:ln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58506" y="1767681"/>
                <a:ext cx="134939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134939" h="134937">
                    <a:moveTo>
                      <a:pt x="134938" y="13494"/>
                    </a:moveTo>
                    <a:lnTo>
                      <a:pt x="134938" y="94456"/>
                    </a:lnTo>
                    <a:cubicBezTo>
                      <a:pt x="134939" y="115892"/>
                      <a:pt x="118230" y="133612"/>
                      <a:pt x="96831" y="134870"/>
                    </a:cubicBezTo>
                    <a:lnTo>
                      <a:pt x="94456" y="134937"/>
                    </a:lnTo>
                    <a:lnTo>
                      <a:pt x="13494" y="134937"/>
                    </a:lnTo>
                    <a:cubicBezTo>
                      <a:pt x="6041" y="134937"/>
                      <a:pt x="0" y="128896"/>
                      <a:pt x="0" y="121444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21444" y="0"/>
                    </a:lnTo>
                    <a:cubicBezTo>
                      <a:pt x="128896" y="0"/>
                      <a:pt x="134938" y="6041"/>
                      <a:pt x="134938" y="134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58506" y="1659730"/>
                <a:ext cx="134938" cy="80964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80964">
                    <a:moveTo>
                      <a:pt x="94456" y="1"/>
                    </a:moveTo>
                    <a:cubicBezTo>
                      <a:pt x="115892" y="0"/>
                      <a:pt x="133612" y="16709"/>
                      <a:pt x="134870" y="38108"/>
                    </a:cubicBezTo>
                    <a:lnTo>
                      <a:pt x="134938" y="40482"/>
                    </a:lnTo>
                    <a:lnTo>
                      <a:pt x="134938" y="67470"/>
                    </a:lnTo>
                    <a:cubicBezTo>
                      <a:pt x="134938" y="74922"/>
                      <a:pt x="128896" y="80964"/>
                      <a:pt x="121444" y="80964"/>
                    </a:cubicBezTo>
                    <a:lnTo>
                      <a:pt x="13494" y="80964"/>
                    </a:lnTo>
                    <a:cubicBezTo>
                      <a:pt x="6041" y="80964"/>
                      <a:pt x="0" y="74922"/>
                      <a:pt x="0" y="67470"/>
                    </a:cubicBezTo>
                    <a:lnTo>
                      <a:pt x="0" y="13495"/>
                    </a:lnTo>
                    <a:cubicBezTo>
                      <a:pt x="0" y="6043"/>
                      <a:pt x="6041" y="1"/>
                      <a:pt x="13494" y="1"/>
                    </a:cubicBezTo>
                    <a:lnTo>
                      <a:pt x="9445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50555" y="1659731"/>
                <a:ext cx="80964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4" h="80962">
                    <a:moveTo>
                      <a:pt x="80964" y="13494"/>
                    </a:moveTo>
                    <a:lnTo>
                      <a:pt x="80964" y="67469"/>
                    </a:lnTo>
                    <a:cubicBezTo>
                      <a:pt x="80964" y="74921"/>
                      <a:pt x="74922" y="80962"/>
                      <a:pt x="67470" y="80962"/>
                    </a:cubicBezTo>
                    <a:lnTo>
                      <a:pt x="13495" y="80962"/>
                    </a:lnTo>
                    <a:cubicBezTo>
                      <a:pt x="6043" y="80962"/>
                      <a:pt x="1" y="74921"/>
                      <a:pt x="1" y="67469"/>
                    </a:cubicBez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2" y="0"/>
                    </a:lnTo>
                    <a:lnTo>
                      <a:pt x="67470" y="0"/>
                    </a:lnTo>
                    <a:cubicBezTo>
                      <a:pt x="74922" y="0"/>
                      <a:pt x="80964" y="6041"/>
                      <a:pt x="80964" y="134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985385" y="1299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颜色编码对比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8242" y="1561624"/>
              <a:ext cx="1168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Excel 输出自动着色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88242" y="1752124"/>
              <a:ext cx="16369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绿色 = 匹配 / 红色 = 仅 FHX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88242" y="1942624"/>
              <a:ext cx="1773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黄色 = 需确认 / 蓝色 = 建议值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88242" y="22283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一目了然的差异标记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96250" y="1047750"/>
            <a:ext cx="3524250" cy="1666875"/>
            <a:chOff x="8096250" y="1047750"/>
            <a:chExt cx="3524250" cy="1666875"/>
          </a:xfrm>
        </p:grpSpPr>
        <p:sp>
          <p:nvSpPr>
            <p:cNvPr id="35" name="Rectangle 35"/>
            <p:cNvSpPr/>
            <p:nvPr/>
          </p:nvSpPr>
          <p:spPr>
            <a:xfrm>
              <a:off x="8096250" y="1047750"/>
              <a:ext cx="3524250" cy="1666875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8096250" y="1047750"/>
              <a:ext cx="476250" cy="1666875"/>
            </a:xfrm>
            <a:prstGeom prst="roundRect">
              <a:avLst>
                <a:gd name="adj" fmla="val 24000"/>
              </a:avLst>
            </a:prstGeom>
            <a:solidFill>
              <a:srgbClr val="E5393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477250" y="1047750"/>
              <a:ext cx="95250" cy="1666875"/>
            </a:xfrm>
            <a:prstGeom prst="rect">
              <a:avLst/>
            </a:prstGeom>
            <a:solidFill>
              <a:srgbClr val="E5393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225265" y="1698898"/>
              <a:ext cx="231868" cy="164553"/>
            </a:xfrm>
            <a:custGeom>
              <a:avLst/>
              <a:gdLst/>
              <a:ahLst/>
              <a:cxnLst/>
              <a:rect l="l" t="t" r="r" b="b"/>
              <a:pathLst>
                <a:path w="231868" h="164553">
                  <a:moveTo>
                    <a:pt x="226600" y="5268"/>
                  </a:moveTo>
                  <a:cubicBezTo>
                    <a:pt x="231868" y="10537"/>
                    <a:pt x="231868" y="19079"/>
                    <a:pt x="226600" y="24348"/>
                  </a:cubicBezTo>
                  <a:lnTo>
                    <a:pt x="91663" y="159285"/>
                  </a:lnTo>
                  <a:cubicBezTo>
                    <a:pt x="86393" y="164553"/>
                    <a:pt x="77852" y="164553"/>
                    <a:pt x="72583" y="159285"/>
                  </a:cubicBezTo>
                  <a:lnTo>
                    <a:pt x="5114" y="91817"/>
                  </a:lnTo>
                  <a:cubicBezTo>
                    <a:pt x="0" y="86522"/>
                    <a:pt x="73" y="78106"/>
                    <a:pt x="5278" y="72901"/>
                  </a:cubicBezTo>
                  <a:cubicBezTo>
                    <a:pt x="10483" y="67696"/>
                    <a:pt x="18899" y="67623"/>
                    <a:pt x="24194" y="72736"/>
                  </a:cubicBezTo>
                  <a:lnTo>
                    <a:pt x="82123" y="130665"/>
                  </a:lnTo>
                  <a:lnTo>
                    <a:pt x="207520" y="5268"/>
                  </a:lnTo>
                  <a:cubicBezTo>
                    <a:pt x="212789" y="0"/>
                    <a:pt x="221331" y="0"/>
                    <a:pt x="226600" y="52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47760" y="1299210"/>
              <a:ext cx="12234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严格 Excel 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0618" y="1561624"/>
              <a:ext cx="9478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检测 Excel 公式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17521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校验格式 + 重复检查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50618" y="19426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空名称字段检测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50618" y="222837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53935"/>
                  </a:solidFill>
                  <a:latin typeface="Arial"/>
                  <a:ea typeface="Microsoft YaHei"/>
                  <a:cs typeface="Arial"/>
                </a:rPr>
                <a:t>生成前阻止错误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2952750"/>
            <a:ext cx="3524250" cy="1666875"/>
            <a:chOff x="571500" y="2952750"/>
            <a:chExt cx="3524250" cy="1666875"/>
          </a:xfrm>
        </p:grpSpPr>
        <p:sp>
          <p:nvSpPr>
            <p:cNvPr id="45" name="Rectangle 45"/>
            <p:cNvSpPr/>
            <p:nvPr/>
          </p:nvSpPr>
          <p:spPr>
            <a:xfrm>
              <a:off x="571500" y="2952750"/>
              <a:ext cx="3524250" cy="1666875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71500" y="2952750"/>
              <a:ext cx="476250" cy="1666875"/>
            </a:xfrm>
            <a:prstGeom prst="roundRect">
              <a:avLst>
                <a:gd name="adj" fmla="val 24000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2500" y="2952750"/>
              <a:ext cx="95250" cy="166687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63939" y="3538571"/>
              <a:ext cx="281783" cy="283701"/>
            </a:xfrm>
            <a:custGeom>
              <a:avLst/>
              <a:gdLst/>
              <a:ahLst/>
              <a:cxnLst/>
              <a:rect l="l" t="t" r="r" b="b"/>
              <a:pathLst>
                <a:path w="281783" h="283701">
                  <a:moveTo>
                    <a:pt x="172673" y="27132"/>
                  </a:moveTo>
                  <a:cubicBezTo>
                    <a:pt x="199688" y="42726"/>
                    <a:pt x="218637" y="69245"/>
                    <a:pt x="224638" y="99855"/>
                  </a:cubicBezTo>
                  <a:cubicBezTo>
                    <a:pt x="230639" y="130466"/>
                    <a:pt x="223106" y="162176"/>
                    <a:pt x="203979" y="186817"/>
                  </a:cubicBezTo>
                  <a:lnTo>
                    <a:pt x="276669" y="259507"/>
                  </a:lnTo>
                  <a:cubicBezTo>
                    <a:pt x="281783" y="264802"/>
                    <a:pt x="281710" y="273218"/>
                    <a:pt x="276505" y="278423"/>
                  </a:cubicBezTo>
                  <a:cubicBezTo>
                    <a:pt x="271300" y="283628"/>
                    <a:pt x="262884" y="283701"/>
                    <a:pt x="257589" y="278588"/>
                  </a:cubicBezTo>
                  <a:lnTo>
                    <a:pt x="184885" y="205897"/>
                  </a:lnTo>
                  <a:cubicBezTo>
                    <a:pt x="142028" y="239151"/>
                    <a:pt x="81149" y="235438"/>
                    <a:pt x="42653" y="197220"/>
                  </a:cubicBezTo>
                  <a:cubicBezTo>
                    <a:pt x="4156" y="159002"/>
                    <a:pt x="0" y="98152"/>
                    <a:pt x="32942" y="55055"/>
                  </a:cubicBezTo>
                  <a:cubicBezTo>
                    <a:pt x="65884" y="11958"/>
                    <a:pt x="125693" y="0"/>
                    <a:pt x="172673" y="271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23010" y="3204210"/>
              <a:ext cx="14166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全面 FHX 元素支持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5868" y="346662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ENUMERATION_SET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25868" y="3657124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STRING_VALUE + 表达式引用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25868" y="3847624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SYSTEM_ALARM / USER_ALARM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25868" y="4133374"/>
              <a:ext cx="959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5 类元素全覆盖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33875" y="2952750"/>
            <a:ext cx="3524250" cy="1666875"/>
            <a:chOff x="4333875" y="2952750"/>
            <a:chExt cx="3524250" cy="1666875"/>
          </a:xfrm>
        </p:grpSpPr>
        <p:sp>
          <p:nvSpPr>
            <p:cNvPr id="55" name="Rectangle 55"/>
            <p:cNvSpPr/>
            <p:nvPr/>
          </p:nvSpPr>
          <p:spPr>
            <a:xfrm>
              <a:off x="4333875" y="2952750"/>
              <a:ext cx="3524250" cy="1666875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6" name="Rectangle 56"/>
            <p:cNvSpPr/>
            <p:nvPr/>
          </p:nvSpPr>
          <p:spPr>
            <a:xfrm>
              <a:off x="4333875" y="2952750"/>
              <a:ext cx="476250" cy="1666875"/>
            </a:xfrm>
            <a:prstGeom prst="roundRect">
              <a:avLst>
                <a:gd name="adj" fmla="val 24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714875" y="2952750"/>
              <a:ext cx="95250" cy="1666875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4427698" y="3541873"/>
              <a:ext cx="288604" cy="288604"/>
            </a:xfrm>
            <a:custGeom>
              <a:avLst/>
              <a:gdLst/>
              <a:ahLst/>
              <a:cxnLst/>
              <a:rect l="l" t="t" r="r" b="b"/>
              <a:pathLst>
                <a:path w="288604" h="288604">
                  <a:moveTo>
                    <a:pt x="180020" y="37445"/>
                  </a:moveTo>
                  <a:cubicBezTo>
                    <a:pt x="180754" y="40476"/>
                    <a:pt x="182891" y="42974"/>
                    <a:pt x="185772" y="44169"/>
                  </a:cubicBezTo>
                  <a:cubicBezTo>
                    <a:pt x="188652" y="45363"/>
                    <a:pt x="191930" y="45111"/>
                    <a:pt x="194593" y="43490"/>
                  </a:cubicBezTo>
                  <a:cubicBezTo>
                    <a:pt x="227505" y="23452"/>
                    <a:pt x="265166" y="61100"/>
                    <a:pt x="245127" y="94011"/>
                  </a:cubicBezTo>
                  <a:cubicBezTo>
                    <a:pt x="243506" y="96673"/>
                    <a:pt x="243253" y="99949"/>
                    <a:pt x="244445" y="102828"/>
                  </a:cubicBezTo>
                  <a:cubicBezTo>
                    <a:pt x="245637" y="105708"/>
                    <a:pt x="248131" y="107847"/>
                    <a:pt x="251159" y="108584"/>
                  </a:cubicBezTo>
                  <a:cubicBezTo>
                    <a:pt x="288604" y="117666"/>
                    <a:pt x="288604" y="170925"/>
                    <a:pt x="251159" y="180020"/>
                  </a:cubicBezTo>
                  <a:cubicBezTo>
                    <a:pt x="248129" y="180754"/>
                    <a:pt x="245631" y="182891"/>
                    <a:pt x="244436" y="185772"/>
                  </a:cubicBezTo>
                  <a:cubicBezTo>
                    <a:pt x="243241" y="188652"/>
                    <a:pt x="243493" y="191930"/>
                    <a:pt x="245114" y="194593"/>
                  </a:cubicBezTo>
                  <a:cubicBezTo>
                    <a:pt x="265152" y="227505"/>
                    <a:pt x="227505" y="265166"/>
                    <a:pt x="194593" y="245127"/>
                  </a:cubicBezTo>
                  <a:cubicBezTo>
                    <a:pt x="191931" y="243506"/>
                    <a:pt x="188656" y="243253"/>
                    <a:pt x="185776" y="244445"/>
                  </a:cubicBezTo>
                  <a:cubicBezTo>
                    <a:pt x="182896" y="245637"/>
                    <a:pt x="180758" y="248131"/>
                    <a:pt x="180020" y="251159"/>
                  </a:cubicBezTo>
                  <a:cubicBezTo>
                    <a:pt x="170939" y="288604"/>
                    <a:pt x="117679" y="288604"/>
                    <a:pt x="108584" y="251159"/>
                  </a:cubicBezTo>
                  <a:cubicBezTo>
                    <a:pt x="107850" y="248129"/>
                    <a:pt x="105713" y="245631"/>
                    <a:pt x="102833" y="244436"/>
                  </a:cubicBezTo>
                  <a:cubicBezTo>
                    <a:pt x="99952" y="243241"/>
                    <a:pt x="96675" y="243493"/>
                    <a:pt x="94011" y="245114"/>
                  </a:cubicBezTo>
                  <a:cubicBezTo>
                    <a:pt x="61100" y="265152"/>
                    <a:pt x="23439" y="227505"/>
                    <a:pt x="43477" y="194593"/>
                  </a:cubicBezTo>
                  <a:cubicBezTo>
                    <a:pt x="45098" y="191931"/>
                    <a:pt x="45352" y="188656"/>
                    <a:pt x="44160" y="185776"/>
                  </a:cubicBezTo>
                  <a:cubicBezTo>
                    <a:pt x="42968" y="182896"/>
                    <a:pt x="40473" y="180758"/>
                    <a:pt x="37445" y="180020"/>
                  </a:cubicBezTo>
                  <a:cubicBezTo>
                    <a:pt x="0" y="170939"/>
                    <a:pt x="0" y="117679"/>
                    <a:pt x="37445" y="108584"/>
                  </a:cubicBezTo>
                  <a:cubicBezTo>
                    <a:pt x="40476" y="107850"/>
                    <a:pt x="42974" y="105713"/>
                    <a:pt x="44169" y="102833"/>
                  </a:cubicBezTo>
                  <a:cubicBezTo>
                    <a:pt x="45363" y="99952"/>
                    <a:pt x="45111" y="96675"/>
                    <a:pt x="43490" y="94011"/>
                  </a:cubicBezTo>
                  <a:cubicBezTo>
                    <a:pt x="23452" y="61100"/>
                    <a:pt x="61100" y="23439"/>
                    <a:pt x="94011" y="43477"/>
                  </a:cubicBezTo>
                  <a:cubicBezTo>
                    <a:pt x="96671" y="45110"/>
                    <a:pt x="99952" y="45371"/>
                    <a:pt x="102836" y="44177"/>
                  </a:cubicBezTo>
                  <a:cubicBezTo>
                    <a:pt x="105720" y="42984"/>
                    <a:pt x="107857" y="40480"/>
                    <a:pt x="108584" y="37445"/>
                  </a:cubicBezTo>
                  <a:cubicBezTo>
                    <a:pt x="117666" y="0"/>
                    <a:pt x="170925" y="0"/>
                    <a:pt x="180020" y="37445"/>
                  </a:cubicBezTo>
                  <a:close/>
                  <a:moveTo>
                    <a:pt x="144302" y="103821"/>
                  </a:moveTo>
                  <a:cubicBezTo>
                    <a:pt x="121945" y="103821"/>
                    <a:pt x="103821" y="121945"/>
                    <a:pt x="103821" y="144302"/>
                  </a:cubicBezTo>
                  <a:cubicBezTo>
                    <a:pt x="103821" y="166659"/>
                    <a:pt x="121945" y="184783"/>
                    <a:pt x="144302" y="184783"/>
                  </a:cubicBezTo>
                  <a:cubicBezTo>
                    <a:pt x="166659" y="184783"/>
                    <a:pt x="184783" y="166659"/>
                    <a:pt x="184783" y="144302"/>
                  </a:cubicBezTo>
                  <a:cubicBezTo>
                    <a:pt x="184783" y="121945"/>
                    <a:pt x="166659" y="103821"/>
                    <a:pt x="144302" y="1038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85385" y="3204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双模式运行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8242" y="3466624"/>
              <a:ext cx="1376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GUI：直观图形界面操作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88242" y="3657124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CLI：argparse 命令行参数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88242" y="3847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适合自动化脚本集成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88242" y="413337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灵活适应不同场景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096250" y="2952750"/>
            <a:ext cx="3524250" cy="1666875"/>
            <a:chOff x="8096250" y="2952750"/>
            <a:chExt cx="3524250" cy="1666875"/>
          </a:xfrm>
        </p:grpSpPr>
        <p:sp>
          <p:nvSpPr>
            <p:cNvPr id="65" name="Rectangle 65"/>
            <p:cNvSpPr/>
            <p:nvPr/>
          </p:nvSpPr>
          <p:spPr>
            <a:xfrm>
              <a:off x="8096250" y="2952750"/>
              <a:ext cx="3524250" cy="1666875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4288">
              <a:solidFill>
                <a:srgbClr val="D1D5DB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6" name="Rectangle 66"/>
            <p:cNvSpPr/>
            <p:nvPr/>
          </p:nvSpPr>
          <p:spPr>
            <a:xfrm>
              <a:off x="8096250" y="2952750"/>
              <a:ext cx="476250" cy="1666875"/>
            </a:xfrm>
            <a:prstGeom prst="roundRect">
              <a:avLst>
                <a:gd name="adj" fmla="val 24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477250" y="2952750"/>
              <a:ext cx="95250" cy="1666875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12931" y="3564731"/>
              <a:ext cx="242888" cy="256381"/>
            </a:xfrm>
            <a:custGeom>
              <a:avLst/>
              <a:gdLst/>
              <a:ahLst/>
              <a:cxnLst/>
              <a:rect l="l" t="t" r="r" b="b"/>
              <a:pathLst>
                <a:path w="242888" h="256381">
                  <a:moveTo>
                    <a:pt x="229394" y="175419"/>
                  </a:moveTo>
                  <a:cubicBezTo>
                    <a:pt x="236846" y="175419"/>
                    <a:pt x="242888" y="181460"/>
                    <a:pt x="242888" y="188912"/>
                  </a:cubicBezTo>
                  <a:lnTo>
                    <a:pt x="242888" y="215900"/>
                  </a:lnTo>
                  <a:cubicBezTo>
                    <a:pt x="242888" y="238257"/>
                    <a:pt x="224763" y="256381"/>
                    <a:pt x="202406" y="256381"/>
                  </a:cubicBezTo>
                  <a:lnTo>
                    <a:pt x="40481" y="256381"/>
                  </a:lnTo>
                  <a:cubicBezTo>
                    <a:pt x="18124" y="256381"/>
                    <a:pt x="0" y="238257"/>
                    <a:pt x="0" y="215900"/>
                  </a:cubicBezTo>
                  <a:lnTo>
                    <a:pt x="0" y="188912"/>
                  </a:lnTo>
                  <a:cubicBezTo>
                    <a:pt x="0" y="181460"/>
                    <a:pt x="6041" y="175419"/>
                    <a:pt x="13494" y="175419"/>
                  </a:cubicBezTo>
                  <a:cubicBezTo>
                    <a:pt x="20946" y="175419"/>
                    <a:pt x="26988" y="181460"/>
                    <a:pt x="26988" y="188912"/>
                  </a:cubicBezTo>
                  <a:lnTo>
                    <a:pt x="26988" y="215900"/>
                  </a:lnTo>
                  <a:cubicBezTo>
                    <a:pt x="26988" y="223352"/>
                    <a:pt x="33029" y="229394"/>
                    <a:pt x="40481" y="229394"/>
                  </a:cubicBezTo>
                  <a:lnTo>
                    <a:pt x="202406" y="229394"/>
                  </a:lnTo>
                  <a:cubicBezTo>
                    <a:pt x="209859" y="229394"/>
                    <a:pt x="215900" y="223352"/>
                    <a:pt x="215900" y="215900"/>
                  </a:cubicBezTo>
                  <a:lnTo>
                    <a:pt x="215900" y="188912"/>
                  </a:lnTo>
                  <a:cubicBezTo>
                    <a:pt x="215900" y="181460"/>
                    <a:pt x="221941" y="175419"/>
                    <a:pt x="229394" y="175419"/>
                  </a:cubicBezTo>
                  <a:moveTo>
                    <a:pt x="121444" y="0"/>
                  </a:moveTo>
                  <a:cubicBezTo>
                    <a:pt x="128896" y="0"/>
                    <a:pt x="134937" y="6041"/>
                    <a:pt x="134937" y="13494"/>
                  </a:cubicBezTo>
                  <a:lnTo>
                    <a:pt x="134937" y="142831"/>
                  </a:lnTo>
                  <a:lnTo>
                    <a:pt x="179372" y="98410"/>
                  </a:lnTo>
                  <a:cubicBezTo>
                    <a:pt x="184667" y="93296"/>
                    <a:pt x="193083" y="93369"/>
                    <a:pt x="198288" y="98574"/>
                  </a:cubicBezTo>
                  <a:cubicBezTo>
                    <a:pt x="203493" y="103779"/>
                    <a:pt x="203566" y="112195"/>
                    <a:pt x="198453" y="117490"/>
                  </a:cubicBezTo>
                  <a:lnTo>
                    <a:pt x="130984" y="184959"/>
                  </a:lnTo>
                  <a:cubicBezTo>
                    <a:pt x="130601" y="185343"/>
                    <a:pt x="130196" y="185703"/>
                    <a:pt x="129769" y="186038"/>
                  </a:cubicBezTo>
                  <a:lnTo>
                    <a:pt x="130984" y="184959"/>
                  </a:lnTo>
                  <a:cubicBezTo>
                    <a:pt x="128562" y="187378"/>
                    <a:pt x="125311" y="188787"/>
                    <a:pt x="121889" y="188899"/>
                  </a:cubicBezTo>
                  <a:lnTo>
                    <a:pt x="121444" y="188912"/>
                  </a:lnTo>
                  <a:lnTo>
                    <a:pt x="121012" y="188912"/>
                  </a:lnTo>
                  <a:lnTo>
                    <a:pt x="120283" y="188859"/>
                  </a:lnTo>
                  <a:lnTo>
                    <a:pt x="121444" y="188912"/>
                  </a:lnTo>
                  <a:cubicBezTo>
                    <a:pt x="118425" y="188913"/>
                    <a:pt x="115494" y="187901"/>
                    <a:pt x="113118" y="186038"/>
                  </a:cubicBezTo>
                  <a:cubicBezTo>
                    <a:pt x="112692" y="185703"/>
                    <a:pt x="112286" y="185343"/>
                    <a:pt x="111904" y="184959"/>
                  </a:cubicBezTo>
                  <a:lnTo>
                    <a:pt x="44435" y="117490"/>
                  </a:lnTo>
                  <a:cubicBezTo>
                    <a:pt x="39321" y="112195"/>
                    <a:pt x="39394" y="103779"/>
                    <a:pt x="44599" y="98574"/>
                  </a:cubicBezTo>
                  <a:cubicBezTo>
                    <a:pt x="49804" y="93369"/>
                    <a:pt x="58220" y="93296"/>
                    <a:pt x="63515" y="98410"/>
                  </a:cubicBezTo>
                  <a:lnTo>
                    <a:pt x="107950" y="142831"/>
                  </a:lnTo>
                  <a:lnTo>
                    <a:pt x="107950" y="13494"/>
                  </a:lnTo>
                  <a:cubicBezTo>
                    <a:pt x="107950" y="6041"/>
                    <a:pt x="113991" y="0"/>
                    <a:pt x="1214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47760" y="3204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单文件部署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0618" y="346662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PyInstaller 打包为 .exe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50618" y="36571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零依赖运行环境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50618" y="38476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自带应用图标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50618" y="41333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拷贝即用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4857750"/>
            <a:ext cx="11049000" cy="571500"/>
            <a:chOff x="571500" y="4857750"/>
            <a:chExt cx="11049000" cy="571500"/>
          </a:xfrm>
        </p:grpSpPr>
        <p:sp>
          <p:nvSpPr>
            <p:cNvPr id="75" name="Rectangle 75"/>
            <p:cNvSpPr/>
            <p:nvPr/>
          </p:nvSpPr>
          <p:spPr>
            <a:xfrm>
              <a:off x="571500" y="48577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026703" y="5090160"/>
              <a:ext cx="4138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核心价值：自动翻译 · 精确对比 · 安全验证 · 轻量部署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4" grpId="0"/>
      <p:bldP spid="44" grpId="0"/>
      <p:bldP spid="54" grpId="0"/>
      <p:bldP spid="64" grpId="0"/>
      <p:bldP spid="74" grpId="0"/>
      <p:bldP spid="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376238"/>
            <a:ext cx="2199418" cy="457200"/>
            <a:chOff x="733425" y="376238"/>
            <a:chExt cx="2199418" cy="457200"/>
          </a:xfrm>
        </p:grpSpPr>
        <p:sp>
          <p:nvSpPr>
            <p:cNvPr id="4" name="TextBox 4"/>
            <p:cNvSpPr txBox="1"/>
            <p:nvPr/>
          </p:nvSpPr>
          <p:spPr>
            <a:xfrm>
              <a:off x="733425" y="376238"/>
              <a:ext cx="21994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Excel 输出格式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620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047750"/>
            <a:ext cx="3238500" cy="1905000"/>
            <a:chOff x="571500" y="1047750"/>
            <a:chExt cx="3238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238500" cy="1905000"/>
            </a:xfrm>
            <a:prstGeom prst="roundRect">
              <a:avLst>
                <a:gd name="adj" fmla="val 5000"/>
              </a:avLst>
            </a:prstGeom>
            <a:solidFill>
              <a:srgbClr val="F3F4F6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1671447" y="1203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颜色编码说明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5240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C6EFCE"/>
            </a:solidFill>
            <a:ln w="9525">
              <a:solidFill>
                <a:srgbClr val="2E7D3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77290" y="15630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绿色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415" y="15630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两端均存在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857375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FFC7CE"/>
            </a:solidFill>
            <a:ln w="9525">
              <a:solidFill>
                <a:srgbClr val="E5393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7290" y="18964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53935"/>
                  </a:solidFill>
                  <a:latin typeface="Arial"/>
                  <a:ea typeface="Microsoft YaHei"/>
                  <a:cs typeface="Arial"/>
                </a:rPr>
                <a:t>红色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6415" y="1896428"/>
              <a:ext cx="901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FHX 中存在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19075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FFEB9C"/>
            </a:solidFill>
            <a:ln w="9525">
              <a:solidFill>
                <a:srgbClr val="B8860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7290" y="22298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860B"/>
                  </a:solidFill>
                  <a:latin typeface="Arial"/>
                  <a:ea typeface="Microsoft YaHei"/>
                  <a:cs typeface="Arial"/>
                </a:rPr>
                <a:t>黄色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6415" y="2229802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需要关注/待确认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524125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D6E4F0"/>
            </a:solidFill>
            <a:ln w="9525">
              <a:solidFill>
                <a:srgbClr val="1B3A5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7290" y="25631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浅蓝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6415" y="25631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建议的新值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2952750"/>
            <a:ext cx="11049000" cy="2952750"/>
            <a:chOff x="571500" y="2952750"/>
            <a:chExt cx="11049000" cy="2952750"/>
          </a:xfrm>
        </p:grpSpPr>
        <p:sp>
          <p:nvSpPr>
            <p:cNvPr id="22" name="Rectangle 22"/>
            <p:cNvSpPr/>
            <p:nvPr/>
          </p:nvSpPr>
          <p:spPr>
            <a:xfrm>
              <a:off x="571500" y="2952750"/>
              <a:ext cx="11049000" cy="2952750"/>
            </a:xfrm>
            <a:prstGeom prst="rect">
              <a:avLst/>
            </a:pr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571500" y="2952750"/>
              <a:ext cx="11049000" cy="2428875"/>
              <a:chOff x="571500" y="2952750"/>
              <a:chExt cx="11049000" cy="2428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952750"/>
                <a:ext cx="11049000" cy="428625"/>
              </a:xfrm>
              <a:prstGeom prst="rect">
                <a:avLst/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50570" y="3122295"/>
                <a:ext cx="5332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NAMESET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55570" y="3122295"/>
                <a:ext cx="3694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VALUE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3320" y="3122295"/>
                <a:ext cx="10246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OLD NAME (中文)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989320" y="3122295"/>
                <a:ext cx="11948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NEW NAME (English)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70570" y="3122295"/>
                <a:ext cx="7915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SETUP EXISTS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085070" y="3122295"/>
                <a:ext cx="4387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STATUS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71500" y="338137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3381375"/>
                <a:ext cx="11049000" cy="400050"/>
              </a:xfrm>
              <a:prstGeom prst="rect">
                <a:avLst/>
              </a:prstGeom>
              <a:solidFill>
                <a:srgbClr val="C6EFCE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0570" y="3541395"/>
                <a:ext cx="8149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$phase_state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55570" y="3541395"/>
                <a:ext cx="5886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702368" y="3533299"/>
                <a:ext cx="2847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Segoe UI"/>
                    <a:ea typeface="Microsoft YaHei"/>
                    <a:cs typeface="Segoe UI"/>
                  </a:rPr>
                  <a:t>运行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88368" y="353329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2E7D32"/>
                    </a:solidFill>
                    <a:latin typeface="Segoe UI"/>
                    <a:ea typeface="Microsoft YaHei"/>
                    <a:cs typeface="Segoe UI"/>
                  </a:rPr>
                  <a:t>Running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548104" y="3533299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Yes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020388" y="3541395"/>
                <a:ext cx="5332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Matched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571500" y="378142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" y="3781425"/>
                <a:ext cx="11049000" cy="400050"/>
              </a:xfrm>
              <a:prstGeom prst="rect">
                <a:avLst/>
              </a:prstGeom>
              <a:solidFill>
                <a:srgbClr val="FFC7CE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50570" y="3941445"/>
                <a:ext cx="8149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$phase_state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655570" y="3941445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702368" y="3933349"/>
                <a:ext cx="2847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Segoe UI"/>
                    <a:ea typeface="Microsoft YaHei"/>
                    <a:cs typeface="Segoe UI"/>
                  </a:rPr>
                  <a:t>停止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988368" y="3933349"/>
                <a:ext cx="5503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53935"/>
                    </a:solidFill>
                    <a:latin typeface="Segoe UI"/>
                    <a:ea typeface="Microsoft YaHei"/>
                    <a:cs typeface="Segoe UI"/>
                  </a:rPr>
                  <a:t>Stopped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583859" y="3933349"/>
                <a:ext cx="1677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53935"/>
                    </a:solidFill>
                    <a:latin typeface="Arial"/>
                    <a:ea typeface="Microsoft YaHei"/>
                    <a:cs typeface="Arial"/>
                  </a:rPr>
                  <a:t>No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17238" y="3941445"/>
                <a:ext cx="5395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E53935"/>
                    </a:solidFill>
                    <a:latin typeface="Arial"/>
                    <a:ea typeface="Microsoft YaHei"/>
                    <a:cs typeface="Arial"/>
                  </a:rPr>
                  <a:t>FHX Only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571500" y="418147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" y="4181475"/>
                <a:ext cx="11049000" cy="400050"/>
              </a:xfrm>
              <a:prstGeom prst="rect">
                <a:avLst/>
              </a:prstGeom>
              <a:solidFill>
                <a:srgbClr val="FFEB9C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50570" y="4341495"/>
                <a:ext cx="85096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$recipe_state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655570" y="4341495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702368" y="433339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Segoe UI"/>
                    <a:ea typeface="Microsoft YaHei"/>
                    <a:cs typeface="Segoe UI"/>
                  </a:rPr>
                  <a:t>验证中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988368" y="4333399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B8860B"/>
                    </a:solidFill>
                    <a:latin typeface="Segoe UI"/>
                    <a:ea typeface="Microsoft YaHei"/>
                    <a:cs typeface="Segoe UI"/>
                  </a:rPr>
                  <a:t>Verifying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19613" y="4333399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B8860B"/>
                    </a:solidFill>
                    <a:latin typeface="Arial"/>
                    <a:ea typeface="Microsoft YaHei"/>
                    <a:cs typeface="Arial"/>
                  </a:rPr>
                  <a:t>?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70794" y="4341495"/>
                <a:ext cx="43241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8860B"/>
                    </a:solidFill>
                    <a:latin typeface="Arial"/>
                    <a:ea typeface="Microsoft YaHei"/>
                    <a:cs typeface="Arial"/>
                  </a:rPr>
                  <a:t>Review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571500" y="458152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571500" y="4581525"/>
                <a:ext cx="11049000" cy="400050"/>
              </a:xfrm>
              <a:prstGeom prst="rect">
                <a:avLst/>
              </a:prstGeom>
              <a:solidFill>
                <a:srgbClr val="D6E4F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50570" y="4741545"/>
                <a:ext cx="7189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$sfc_action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655570" y="4741545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5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702368" y="47334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Segoe UI"/>
                    <a:ea typeface="Microsoft YaHei"/>
                    <a:cs typeface="Segoe UI"/>
                  </a:rPr>
                  <a:t>执行中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988368" y="4733449"/>
                <a:ext cx="6663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B3A5C"/>
                    </a:solidFill>
                    <a:latin typeface="Segoe UI"/>
                    <a:ea typeface="Microsoft YaHei"/>
                    <a:cs typeface="Segoe UI"/>
                  </a:rPr>
                  <a:t>Executing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333577" y="47334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Suggested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159005" y="4741545"/>
                <a:ext cx="2559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New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571500" y="498157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571500" y="4981575"/>
                <a:ext cx="11049000" cy="4000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50570" y="5141595"/>
                <a:ext cx="9409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$module_states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655570" y="5141595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B3A5C"/>
                    </a:solidFill>
                    <a:latin typeface="Consolas"/>
                    <a:ea typeface="Microsoft YaHei"/>
                    <a:cs typeface="Consolas"/>
                  </a:rPr>
                  <a:t>7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702368" y="5133499"/>
                <a:ext cx="2847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D2D"/>
                    </a:solidFill>
                    <a:latin typeface="Segoe UI"/>
                    <a:ea typeface="Microsoft YaHei"/>
                    <a:cs typeface="Segoe UI"/>
                  </a:rPr>
                  <a:t>故障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988368" y="5133499"/>
                <a:ext cx="366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2E7D32"/>
                    </a:solidFill>
                    <a:latin typeface="Segoe UI"/>
                    <a:ea typeface="Microsoft YaHei"/>
                    <a:cs typeface="Segoe UI"/>
                  </a:rPr>
                  <a:t>Fault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548104" y="5133499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Yes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020388" y="5141595"/>
                <a:ext cx="5332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Matched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748665" y="6048375"/>
            <a:ext cx="7061835" cy="266700"/>
            <a:chOff x="748665" y="6048375"/>
            <a:chExt cx="7061835" cy="266700"/>
          </a:xfrm>
        </p:grpSpPr>
        <p:sp>
          <p:nvSpPr>
            <p:cNvPr id="72" name="TextBox 72"/>
            <p:cNvSpPr txBox="1"/>
            <p:nvPr/>
          </p:nvSpPr>
          <p:spPr>
            <a:xfrm>
              <a:off x="748665" y="6077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 Sheet 结构：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2190750" y="6048375"/>
              <a:ext cx="1047750" cy="266700"/>
            </a:xfrm>
            <a:prstGeom prst="roundRect">
              <a:avLst>
                <a:gd name="adj" fmla="val 21429"/>
              </a:avLst>
            </a:prstGeom>
            <a:solidFill>
              <a:srgbClr val="4472C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413359" y="6132195"/>
              <a:ext cx="6025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Namesets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333750" y="604837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509772" y="6132195"/>
              <a:ext cx="790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String Values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572000" y="6048375"/>
              <a:ext cx="1333500" cy="266700"/>
            </a:xfrm>
            <a:prstGeom prst="roundRect">
              <a:avLst>
                <a:gd name="adj" fmla="val 21429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62262" y="6132195"/>
              <a:ext cx="952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Expression Refs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000750" y="6048375"/>
              <a:ext cx="857250" cy="266700"/>
            </a:xfrm>
            <a:prstGeom prst="roundRect">
              <a:avLst>
                <a:gd name="adj" fmla="val 21429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222921" y="6132195"/>
              <a:ext cx="4129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Alarms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953250" y="6048375"/>
              <a:ext cx="857250" cy="266700"/>
            </a:xfrm>
            <a:prstGeom prst="roundRect">
              <a:avLst>
                <a:gd name="adj" fmla="val 21429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36416" y="6132195"/>
              <a:ext cx="490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Priority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75152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1" grpId="0"/>
      <p:bldP spid="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2624" y="376238"/>
            <a:ext cx="2206752" cy="642937"/>
            <a:chOff x="4992624" y="376238"/>
            <a:chExt cx="2206752" cy="642937"/>
          </a:xfrm>
        </p:grpSpPr>
        <p:sp>
          <p:nvSpPr>
            <p:cNvPr id="4" name="TextBox 4"/>
            <p:cNvSpPr txBox="1"/>
            <p:nvPr/>
          </p:nvSpPr>
          <p:spPr>
            <a:xfrm>
              <a:off x="5437346" y="376238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轻量部署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992624" y="775335"/>
              <a:ext cx="22067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PyInstaller 打包，零依赖运行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0" y="1333500"/>
            <a:ext cx="1905000" cy="1905000"/>
            <a:chOff x="5143500" y="1333500"/>
            <a:chExt cx="1905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143500" y="1333500"/>
              <a:ext cx="1905000" cy="1905000"/>
            </a:xfrm>
            <a:prstGeom prst="roundRect">
              <a:avLst>
                <a:gd name="adj" fmla="val 12000"/>
              </a:avLst>
            </a:prstGeom>
            <a:solidFill>
              <a:srgbClr val="1B3A5C"/>
            </a:solidFill>
            <a:ln>
              <a:noFill/>
            </a:ln>
            <a:effectLst>
              <a:outerShdw blurRad="114300" dist="28575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81675" y="1924050"/>
              <a:ext cx="400050" cy="422275"/>
            </a:xfrm>
            <a:custGeom>
              <a:avLst/>
              <a:gdLst/>
              <a:ahLst/>
              <a:cxnLst/>
              <a:rect l="l" t="t" r="r" b="b"/>
              <a:pathLst>
                <a:path w="400050" h="422275">
                  <a:moveTo>
                    <a:pt x="377825" y="288925"/>
                  </a:moveTo>
                  <a:cubicBezTo>
                    <a:pt x="390100" y="288925"/>
                    <a:pt x="400050" y="298875"/>
                    <a:pt x="400050" y="311150"/>
                  </a:cubicBezTo>
                  <a:lnTo>
                    <a:pt x="400050" y="355600"/>
                  </a:lnTo>
                  <a:cubicBezTo>
                    <a:pt x="400050" y="392424"/>
                    <a:pt x="370199" y="422275"/>
                    <a:pt x="333375" y="422275"/>
                  </a:cubicBezTo>
                  <a:lnTo>
                    <a:pt x="66675" y="422275"/>
                  </a:lnTo>
                  <a:cubicBezTo>
                    <a:pt x="29851" y="422275"/>
                    <a:pt x="0" y="392424"/>
                    <a:pt x="0" y="355600"/>
                  </a:cubicBezTo>
                  <a:lnTo>
                    <a:pt x="0" y="311150"/>
                  </a:lnTo>
                  <a:cubicBezTo>
                    <a:pt x="0" y="298875"/>
                    <a:pt x="9950" y="288925"/>
                    <a:pt x="22225" y="288925"/>
                  </a:cubicBezTo>
                  <a:cubicBezTo>
                    <a:pt x="34500" y="288925"/>
                    <a:pt x="44450" y="298875"/>
                    <a:pt x="44450" y="311150"/>
                  </a:cubicBezTo>
                  <a:lnTo>
                    <a:pt x="44450" y="355600"/>
                  </a:lnTo>
                  <a:cubicBezTo>
                    <a:pt x="44450" y="367875"/>
                    <a:pt x="54400" y="377825"/>
                    <a:pt x="66675" y="377825"/>
                  </a:cubicBezTo>
                  <a:lnTo>
                    <a:pt x="333375" y="377825"/>
                  </a:lnTo>
                  <a:cubicBezTo>
                    <a:pt x="345650" y="377825"/>
                    <a:pt x="355600" y="367875"/>
                    <a:pt x="355600" y="355600"/>
                  </a:cubicBezTo>
                  <a:lnTo>
                    <a:pt x="355600" y="311150"/>
                  </a:lnTo>
                  <a:cubicBezTo>
                    <a:pt x="355600" y="298875"/>
                    <a:pt x="365550" y="288925"/>
                    <a:pt x="377825" y="288925"/>
                  </a:cubicBezTo>
                  <a:moveTo>
                    <a:pt x="200025" y="0"/>
                  </a:moveTo>
                  <a:cubicBezTo>
                    <a:pt x="212300" y="0"/>
                    <a:pt x="222250" y="9950"/>
                    <a:pt x="222250" y="22225"/>
                  </a:cubicBezTo>
                  <a:lnTo>
                    <a:pt x="222250" y="235252"/>
                  </a:lnTo>
                  <a:lnTo>
                    <a:pt x="295437" y="162087"/>
                  </a:lnTo>
                  <a:cubicBezTo>
                    <a:pt x="304158" y="153664"/>
                    <a:pt x="318019" y="153785"/>
                    <a:pt x="326592" y="162358"/>
                  </a:cubicBezTo>
                  <a:cubicBezTo>
                    <a:pt x="335165" y="170931"/>
                    <a:pt x="335286" y="184792"/>
                    <a:pt x="326863" y="193513"/>
                  </a:cubicBezTo>
                  <a:lnTo>
                    <a:pt x="215738" y="304638"/>
                  </a:lnTo>
                  <a:cubicBezTo>
                    <a:pt x="215108" y="305270"/>
                    <a:pt x="214440" y="305864"/>
                    <a:pt x="213738" y="306416"/>
                  </a:cubicBezTo>
                  <a:lnTo>
                    <a:pt x="215738" y="304638"/>
                  </a:lnTo>
                  <a:cubicBezTo>
                    <a:pt x="211749" y="308623"/>
                    <a:pt x="206394" y="310943"/>
                    <a:pt x="200758" y="311128"/>
                  </a:cubicBezTo>
                  <a:lnTo>
                    <a:pt x="200025" y="311150"/>
                  </a:lnTo>
                  <a:lnTo>
                    <a:pt x="199314" y="311150"/>
                  </a:lnTo>
                  <a:lnTo>
                    <a:pt x="198114" y="311061"/>
                  </a:lnTo>
                  <a:lnTo>
                    <a:pt x="200025" y="311150"/>
                  </a:lnTo>
                  <a:cubicBezTo>
                    <a:pt x="195053" y="311150"/>
                    <a:pt x="190225" y="309483"/>
                    <a:pt x="186312" y="306416"/>
                  </a:cubicBezTo>
                  <a:cubicBezTo>
                    <a:pt x="185610" y="305864"/>
                    <a:pt x="184942" y="305270"/>
                    <a:pt x="184312" y="304638"/>
                  </a:cubicBezTo>
                  <a:lnTo>
                    <a:pt x="73187" y="193513"/>
                  </a:lnTo>
                  <a:cubicBezTo>
                    <a:pt x="64764" y="184792"/>
                    <a:pt x="64885" y="170931"/>
                    <a:pt x="73458" y="162358"/>
                  </a:cubicBezTo>
                  <a:cubicBezTo>
                    <a:pt x="82031" y="153785"/>
                    <a:pt x="95892" y="153664"/>
                    <a:pt x="104613" y="162087"/>
                  </a:cubicBezTo>
                  <a:lnTo>
                    <a:pt x="177800" y="235252"/>
                  </a:lnTo>
                  <a:lnTo>
                    <a:pt x="177800" y="22225"/>
                  </a:lnTo>
                  <a:cubicBezTo>
                    <a:pt x="177800" y="9950"/>
                    <a:pt x="187750" y="0"/>
                    <a:pt x="2000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70929" y="2521268"/>
              <a:ext cx="450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.exe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2500" y="1524000"/>
            <a:ext cx="10287000" cy="3238500"/>
            <a:chOff x="952500" y="1524000"/>
            <a:chExt cx="10287000" cy="3238500"/>
          </a:xfrm>
        </p:grpSpPr>
        <p:grpSp>
          <p:nvGrpSpPr>
            <p:cNvPr id="15" name="Group 15"/>
            <p:cNvGrpSpPr/>
            <p:nvPr/>
          </p:nvGrpSpPr>
          <p:grpSpPr>
            <a:xfrm>
              <a:off x="952500" y="1524000"/>
              <a:ext cx="3619500" cy="952500"/>
              <a:chOff x="952500" y="1524000"/>
              <a:chExt cx="3619500" cy="952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1524000"/>
                <a:ext cx="3619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8399" y="1847850"/>
                <a:ext cx="254002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54002" h="215901">
                    <a:moveTo>
                      <a:pt x="88901" y="0"/>
                    </a:moveTo>
                    <a:cubicBezTo>
                      <a:pt x="91693" y="0"/>
                      <a:pt x="94406" y="919"/>
                      <a:pt x="96623" y="2616"/>
                    </a:cubicBezTo>
                    <a:lnTo>
                      <a:pt x="97893" y="3721"/>
                    </a:lnTo>
                    <a:lnTo>
                      <a:pt x="132259" y="38100"/>
                    </a:lnTo>
                    <a:lnTo>
                      <a:pt x="215901" y="38100"/>
                    </a:lnTo>
                    <a:cubicBezTo>
                      <a:pt x="236076" y="38099"/>
                      <a:pt x="252754" y="53825"/>
                      <a:pt x="253938" y="73965"/>
                    </a:cubicBezTo>
                    <a:lnTo>
                      <a:pt x="254001" y="76200"/>
                    </a:lnTo>
                    <a:lnTo>
                      <a:pt x="254001" y="177800"/>
                    </a:lnTo>
                    <a:cubicBezTo>
                      <a:pt x="254002" y="197975"/>
                      <a:pt x="238276" y="214653"/>
                      <a:pt x="218136" y="215837"/>
                    </a:cubicBezTo>
                    <a:lnTo>
                      <a:pt x="215901" y="215900"/>
                    </a:lnTo>
                    <a:lnTo>
                      <a:pt x="38101" y="215900"/>
                    </a:lnTo>
                    <a:cubicBezTo>
                      <a:pt x="17926" y="215901"/>
                      <a:pt x="1248" y="200175"/>
                      <a:pt x="65" y="180035"/>
                    </a:cubicBezTo>
                    <a:lnTo>
                      <a:pt x="1" y="177800"/>
                    </a:lnTo>
                    <a:lnTo>
                      <a:pt x="1" y="38100"/>
                    </a:lnTo>
                    <a:cubicBezTo>
                      <a:pt x="0" y="17926"/>
                      <a:pt x="15726" y="1247"/>
                      <a:pt x="35866" y="64"/>
                    </a:cubicBezTo>
                    <a:lnTo>
                      <a:pt x="38101" y="0"/>
                    </a:lnTo>
                    <a:lnTo>
                      <a:pt x="88901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56385" y="17754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单文件应用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59242" y="2037874"/>
                <a:ext cx="22675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fhx_migrator.py — 全部逻辑 1 个文件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620000" y="1524000"/>
              <a:ext cx="3619500" cy="952500"/>
              <a:chOff x="7620000" y="1524000"/>
              <a:chExt cx="3619500" cy="952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0" y="1524000"/>
                <a:ext cx="3619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835900" y="1860550"/>
                <a:ext cx="2540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03200">
                    <a:moveTo>
                      <a:pt x="215900" y="0"/>
                    </a:moveTo>
                    <a:cubicBezTo>
                      <a:pt x="236942" y="0"/>
                      <a:pt x="254000" y="17058"/>
                      <a:pt x="254000" y="38100"/>
                    </a:cubicBezTo>
                    <a:lnTo>
                      <a:pt x="254000" y="165100"/>
                    </a:lnTo>
                    <a:cubicBezTo>
                      <a:pt x="254000" y="186142"/>
                      <a:pt x="236942" y="203200"/>
                      <a:pt x="215900" y="203200"/>
                    </a:cubicBezTo>
                    <a:lnTo>
                      <a:pt x="38100" y="203200"/>
                    </a:lnTo>
                    <a:cubicBezTo>
                      <a:pt x="17058" y="203200"/>
                      <a:pt x="0" y="186142"/>
                      <a:pt x="0" y="165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  <a:moveTo>
                      <a:pt x="50927" y="38100"/>
                    </a:moveTo>
                    <a:lnTo>
                      <a:pt x="49314" y="38189"/>
                    </a:lnTo>
                    <a:cubicBezTo>
                      <a:pt x="42642" y="38983"/>
                      <a:pt x="37742" y="44836"/>
                      <a:pt x="38136" y="51544"/>
                    </a:cubicBezTo>
                    <a:cubicBezTo>
                      <a:pt x="38530" y="58252"/>
                      <a:pt x="44081" y="63493"/>
                      <a:pt x="50800" y="63500"/>
                    </a:cubicBezTo>
                    <a:lnTo>
                      <a:pt x="52413" y="63411"/>
                    </a:lnTo>
                    <a:cubicBezTo>
                      <a:pt x="59085" y="62617"/>
                      <a:pt x="63985" y="56764"/>
                      <a:pt x="63591" y="50056"/>
                    </a:cubicBezTo>
                    <a:cubicBezTo>
                      <a:pt x="63197" y="43348"/>
                      <a:pt x="57646" y="38107"/>
                      <a:pt x="50927" y="38100"/>
                    </a:cubicBezTo>
                    <a:close/>
                    <a:moveTo>
                      <a:pt x="89027" y="38100"/>
                    </a:moveTo>
                    <a:lnTo>
                      <a:pt x="87414" y="38189"/>
                    </a:lnTo>
                    <a:cubicBezTo>
                      <a:pt x="80742" y="38983"/>
                      <a:pt x="75842" y="44836"/>
                      <a:pt x="76236" y="51544"/>
                    </a:cubicBezTo>
                    <a:cubicBezTo>
                      <a:pt x="76630" y="58252"/>
                      <a:pt x="82181" y="63493"/>
                      <a:pt x="88900" y="63500"/>
                    </a:cubicBezTo>
                    <a:lnTo>
                      <a:pt x="90513" y="63411"/>
                    </a:lnTo>
                    <a:cubicBezTo>
                      <a:pt x="97185" y="62617"/>
                      <a:pt x="102085" y="56764"/>
                      <a:pt x="101691" y="50056"/>
                    </a:cubicBezTo>
                    <a:cubicBezTo>
                      <a:pt x="101297" y="43348"/>
                      <a:pt x="95746" y="38107"/>
                      <a:pt x="89027" y="38100"/>
                    </a:cubicBez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23885" y="1775460"/>
                <a:ext cx="13074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无需安装 Python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26742" y="2037874"/>
                <a:ext cx="23260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--onefile --windowed 打包为独立程序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3810000"/>
              <a:ext cx="3619500" cy="952500"/>
              <a:chOff x="952500" y="3810000"/>
              <a:chExt cx="3619500" cy="952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3810000"/>
                <a:ext cx="3619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59586" y="4112336"/>
                <a:ext cx="271628" cy="271628"/>
              </a:xfrm>
              <a:custGeom>
                <a:avLst/>
                <a:gdLst/>
                <a:ahLst/>
                <a:cxnLst/>
                <a:rect l="l" t="t" r="r" b="b"/>
                <a:pathLst>
                  <a:path w="271628" h="271628">
                    <a:moveTo>
                      <a:pt x="169431" y="35242"/>
                    </a:moveTo>
                    <a:cubicBezTo>
                      <a:pt x="170122" y="38095"/>
                      <a:pt x="172133" y="40446"/>
                      <a:pt x="174844" y="41570"/>
                    </a:cubicBezTo>
                    <a:cubicBezTo>
                      <a:pt x="177555" y="42695"/>
                      <a:pt x="180640" y="42458"/>
                      <a:pt x="183147" y="40932"/>
                    </a:cubicBezTo>
                    <a:cubicBezTo>
                      <a:pt x="214122" y="22073"/>
                      <a:pt x="249568" y="57506"/>
                      <a:pt x="230708" y="88481"/>
                    </a:cubicBezTo>
                    <a:cubicBezTo>
                      <a:pt x="229182" y="90986"/>
                      <a:pt x="228944" y="94069"/>
                      <a:pt x="230066" y="96780"/>
                    </a:cubicBezTo>
                    <a:cubicBezTo>
                      <a:pt x="231187" y="99490"/>
                      <a:pt x="233535" y="101503"/>
                      <a:pt x="236385" y="102197"/>
                    </a:cubicBezTo>
                    <a:cubicBezTo>
                      <a:pt x="271628" y="110744"/>
                      <a:pt x="271628" y="160871"/>
                      <a:pt x="236385" y="169431"/>
                    </a:cubicBezTo>
                    <a:cubicBezTo>
                      <a:pt x="233533" y="170122"/>
                      <a:pt x="231182" y="172133"/>
                      <a:pt x="230057" y="174844"/>
                    </a:cubicBezTo>
                    <a:cubicBezTo>
                      <a:pt x="228933" y="177555"/>
                      <a:pt x="229170" y="180640"/>
                      <a:pt x="230696" y="183147"/>
                    </a:cubicBezTo>
                    <a:cubicBezTo>
                      <a:pt x="249555" y="214122"/>
                      <a:pt x="214122" y="249568"/>
                      <a:pt x="183147" y="230708"/>
                    </a:cubicBezTo>
                    <a:cubicBezTo>
                      <a:pt x="180641" y="229182"/>
                      <a:pt x="177558" y="228944"/>
                      <a:pt x="174848" y="230066"/>
                    </a:cubicBezTo>
                    <a:cubicBezTo>
                      <a:pt x="172137" y="231187"/>
                      <a:pt x="170125" y="233535"/>
                      <a:pt x="169431" y="236385"/>
                    </a:cubicBezTo>
                    <a:cubicBezTo>
                      <a:pt x="160884" y="271628"/>
                      <a:pt x="110757" y="271628"/>
                      <a:pt x="102197" y="236385"/>
                    </a:cubicBezTo>
                    <a:cubicBezTo>
                      <a:pt x="101506" y="233533"/>
                      <a:pt x="99495" y="231182"/>
                      <a:pt x="96784" y="230057"/>
                    </a:cubicBezTo>
                    <a:cubicBezTo>
                      <a:pt x="94073" y="228933"/>
                      <a:pt x="90988" y="229170"/>
                      <a:pt x="88481" y="230696"/>
                    </a:cubicBezTo>
                    <a:cubicBezTo>
                      <a:pt x="57506" y="249555"/>
                      <a:pt x="22060" y="214122"/>
                      <a:pt x="40919" y="183147"/>
                    </a:cubicBezTo>
                    <a:cubicBezTo>
                      <a:pt x="42445" y="180641"/>
                      <a:pt x="42684" y="177558"/>
                      <a:pt x="41562" y="174848"/>
                    </a:cubicBezTo>
                    <a:cubicBezTo>
                      <a:pt x="40440" y="172137"/>
                      <a:pt x="38093" y="170125"/>
                      <a:pt x="35243" y="169431"/>
                    </a:cubicBezTo>
                    <a:cubicBezTo>
                      <a:pt x="0" y="160884"/>
                      <a:pt x="0" y="110757"/>
                      <a:pt x="35243" y="102197"/>
                    </a:cubicBezTo>
                    <a:cubicBezTo>
                      <a:pt x="38095" y="101506"/>
                      <a:pt x="40446" y="99495"/>
                      <a:pt x="41570" y="96784"/>
                    </a:cubicBezTo>
                    <a:cubicBezTo>
                      <a:pt x="42695" y="94073"/>
                      <a:pt x="42458" y="90988"/>
                      <a:pt x="40932" y="88481"/>
                    </a:cubicBezTo>
                    <a:cubicBezTo>
                      <a:pt x="22073" y="57506"/>
                      <a:pt x="57506" y="22060"/>
                      <a:pt x="88481" y="40919"/>
                    </a:cubicBezTo>
                    <a:cubicBezTo>
                      <a:pt x="90984" y="42457"/>
                      <a:pt x="94072" y="42702"/>
                      <a:pt x="96786" y="41578"/>
                    </a:cubicBezTo>
                    <a:cubicBezTo>
                      <a:pt x="99501" y="40455"/>
                      <a:pt x="101512" y="38099"/>
                      <a:pt x="102197" y="35242"/>
                    </a:cubicBezTo>
                    <a:cubicBezTo>
                      <a:pt x="110744" y="0"/>
                      <a:pt x="160871" y="0"/>
                      <a:pt x="169431" y="35242"/>
                    </a:cubicBezTo>
                    <a:close/>
                    <a:moveTo>
                      <a:pt x="135814" y="97714"/>
                    </a:moveTo>
                    <a:cubicBezTo>
                      <a:pt x="114772" y="97714"/>
                      <a:pt x="97714" y="114772"/>
                      <a:pt x="97714" y="135814"/>
                    </a:cubicBezTo>
                    <a:cubicBezTo>
                      <a:pt x="97714" y="156856"/>
                      <a:pt x="114772" y="173914"/>
                      <a:pt x="135814" y="173914"/>
                    </a:cubicBezTo>
                    <a:cubicBezTo>
                      <a:pt x="156856" y="173914"/>
                      <a:pt x="173914" y="156856"/>
                      <a:pt x="173914" y="135814"/>
                    </a:cubicBezTo>
                    <a:cubicBezTo>
                      <a:pt x="173914" y="114772"/>
                      <a:pt x="156856" y="97714"/>
                      <a:pt x="135814" y="97714"/>
                    </a:cubicBezTo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556385" y="4061460"/>
                <a:ext cx="17190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源码仅 1 .py + 1 .spec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59242" y="432387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最小化构建配置，易于维护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620000" y="3810000"/>
              <a:ext cx="3619500" cy="952500"/>
              <a:chOff x="7620000" y="3810000"/>
              <a:chExt cx="3619500" cy="952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620000" y="3810000"/>
                <a:ext cx="3619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60208" y="4170713"/>
                <a:ext cx="218229" cy="154874"/>
              </a:xfrm>
              <a:custGeom>
                <a:avLst/>
                <a:gdLst/>
                <a:ahLst/>
                <a:cxnLst/>
                <a:rect l="l" t="t" r="r" b="b"/>
                <a:pathLst>
                  <a:path w="218229" h="154874">
                    <a:moveTo>
                      <a:pt x="213271" y="4958"/>
                    </a:moveTo>
                    <a:cubicBezTo>
                      <a:pt x="218229" y="9917"/>
                      <a:pt x="218229" y="17956"/>
                      <a:pt x="213271" y="22916"/>
                    </a:cubicBezTo>
                    <a:lnTo>
                      <a:pt x="86271" y="149916"/>
                    </a:lnTo>
                    <a:cubicBezTo>
                      <a:pt x="81311" y="154874"/>
                      <a:pt x="73272" y="154874"/>
                      <a:pt x="68313" y="149916"/>
                    </a:cubicBezTo>
                    <a:lnTo>
                      <a:pt x="4813" y="86416"/>
                    </a:lnTo>
                    <a:cubicBezTo>
                      <a:pt x="0" y="81432"/>
                      <a:pt x="69" y="73511"/>
                      <a:pt x="4968" y="68613"/>
                    </a:cubicBezTo>
                    <a:cubicBezTo>
                      <a:pt x="9866" y="63714"/>
                      <a:pt x="17788" y="63645"/>
                      <a:pt x="22771" y="68458"/>
                    </a:cubicBezTo>
                    <a:lnTo>
                      <a:pt x="77292" y="122979"/>
                    </a:lnTo>
                    <a:lnTo>
                      <a:pt x="195313" y="4958"/>
                    </a:lnTo>
                    <a:cubicBezTo>
                      <a:pt x="200272" y="0"/>
                      <a:pt x="208311" y="0"/>
                      <a:pt x="213271" y="4958"/>
                    </a:cubicBezTo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23885" y="40614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拷贝即用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6742" y="4323874"/>
                <a:ext cx="19685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无需注册、无需环境变量、无 DLL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952500" y="5143500"/>
            <a:ext cx="10287000" cy="1238250"/>
            <a:chOff x="952500" y="5143500"/>
            <a:chExt cx="102870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952500" y="5143500"/>
              <a:ext cx="10287000" cy="1238250"/>
            </a:xfrm>
            <a:prstGeom prst="roundRect">
              <a:avLst>
                <a:gd name="adj" fmla="val 9231"/>
              </a:avLst>
            </a:prstGeom>
            <a:solidFill>
              <a:srgbClr val="1B3A5C"/>
            </a:solidFill>
            <a:ln>
              <a:noFill/>
            </a:ln>
            <a:effectLst>
              <a:outerShdw blurRad="114300" dist="28575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1320165" y="5363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C4DE"/>
                  </a:solidFill>
                  <a:latin typeface="Arial"/>
                  <a:ea typeface="Microsoft YaHei"/>
                  <a:cs typeface="Arial"/>
                </a:rPr>
                <a:t>运行方式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0165" y="5649278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$ python fhx_migrator.py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0118" y="5657374"/>
              <a:ext cx="616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A8C8"/>
                  </a:solidFill>
                  <a:latin typeface="Arial"/>
                  <a:ea typeface="Microsoft YaHei"/>
                  <a:cs typeface="Arial"/>
                </a:rPr>
                <a:t>← 启动 GUI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0165" y="5887402"/>
              <a:ext cx="5074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$ python fhx_migrator.py compare library.fhx --setup New Database.fhx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0165" y="6125528"/>
              <a:ext cx="6488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$ python fhx_migrator.py generate library.fhx --setup New Database.fhx --excel edited.xlsx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51522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3425" y="376238"/>
            <a:ext cx="687229" cy="457200"/>
            <a:chOff x="733425" y="376238"/>
            <a:chExt cx="687229" cy="457200"/>
          </a:xfrm>
        </p:grpSpPr>
        <p:sp>
          <p:nvSpPr>
            <p:cNvPr id="4" name="TextBox 4"/>
            <p:cNvSpPr txBox="1"/>
            <p:nvPr/>
          </p:nvSpPr>
          <p:spPr>
            <a:xfrm>
              <a:off x="733425" y="376238"/>
              <a:ext cx="6872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7620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047750"/>
            <a:ext cx="11049000" cy="3524250"/>
            <a:chOff x="571500" y="1047750"/>
            <a:chExt cx="11049000" cy="3524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047750"/>
              <a:ext cx="5334000" cy="1047750"/>
              <a:chOff x="571500" y="1047750"/>
              <a:chExt cx="5334000" cy="104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04775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4288">
                <a:solidFill>
                  <a:srgbClr val="D1D5DB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04775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42010" y="125158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解决核心痛点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43915" y="1505902"/>
                <a:ext cx="24839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DeltaV DCS 中英文 FHX 配置迁移自动化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43915" y="1744028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替代低效且易出错的手动翻译流程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286500" y="1047750"/>
              <a:ext cx="5334000" cy="1047750"/>
              <a:chOff x="6286500" y="1047750"/>
              <a:chExt cx="5334000" cy="1047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04775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4288">
                <a:solidFill>
                  <a:srgbClr val="D1D5DB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286500" y="104775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557010" y="125158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两步工作流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558915" y="1505902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对比导出 → 编辑确认 → 生成新 FHX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58915" y="1744028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简单直观，降低操作门槛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2286000"/>
              <a:ext cx="5334000" cy="1047750"/>
              <a:chOff x="571500" y="2286000"/>
              <a:chExt cx="5334000" cy="1047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22860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4288">
                <a:solidFill>
                  <a:srgbClr val="D1D5DB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71500" y="228600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E5393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42010" y="2489835"/>
                <a:ext cx="13914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5 类 FHX 元素覆盖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3915" y="2744152"/>
                <a:ext cx="22529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ENUMERATION_SET / STRING_VALUE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3915" y="2982278"/>
                <a:ext cx="17488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表达式引用 / 报警 / 优先级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286500" y="2286000"/>
              <a:ext cx="5334000" cy="1047750"/>
              <a:chOff x="6286500" y="2286000"/>
              <a:chExt cx="5334000" cy="1047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286500" y="22860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4288">
                <a:solidFill>
                  <a:srgbClr val="D1D5DB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286500" y="228600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557010" y="248983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严格数据验证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58915" y="27441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公式检测 / 格式校验 / 重复检查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58915" y="2982278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生成前拦截错误，保障数据完整性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3524250"/>
              <a:ext cx="11049000" cy="1047750"/>
              <a:chOff x="571500" y="3524250"/>
              <a:chExt cx="11049000" cy="1047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71500" y="3524250"/>
                <a:ext cx="11049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3F4F6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" y="3524250"/>
                <a:ext cx="5715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2010" y="372808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零门槛部署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43915" y="3982402"/>
                <a:ext cx="55783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单文件 .exe，无需安装 Python 或任何依赖。GUI + CLI 双模式，灵活适应不同使用场景。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43915" y="4220528"/>
                <a:ext cx="26730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从源码到分发仅需一个 PyInstaller 命令。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71500" y="4857750"/>
            <a:ext cx="11049000" cy="1428750"/>
            <a:chOff x="571500" y="4857750"/>
            <a:chExt cx="11049000" cy="1428750"/>
          </a:xfrm>
        </p:grpSpPr>
        <p:sp>
          <p:nvSpPr>
            <p:cNvPr id="38" name="Rectangle 38"/>
            <p:cNvSpPr/>
            <p:nvPr/>
          </p:nvSpPr>
          <p:spPr>
            <a:xfrm>
              <a:off x="571500" y="4857750"/>
              <a:ext cx="11049000" cy="1428750"/>
            </a:xfrm>
            <a:prstGeom prst="roundRect">
              <a:avLst>
                <a:gd name="adj" fmla="val 10667"/>
              </a:avLst>
            </a:prstGeom>
            <a:solidFill>
              <a:srgbClr val="1B3A5C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1811655" y="5040630"/>
              <a:ext cx="135159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1,904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42135" y="5585460"/>
              <a:ext cx="510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0C4DE"/>
                  </a:solidFill>
                  <a:latin typeface="Arial"/>
                  <a:ea typeface="Microsoft YaHei"/>
                  <a:cs typeface="Arial"/>
                </a:rPr>
                <a:t>行代码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12030" y="5040630"/>
              <a:ext cx="2426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4472C4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42510" y="55854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0C4DE"/>
                  </a:solidFill>
                  <a:latin typeface="Arial"/>
                  <a:ea typeface="Microsoft YaHei"/>
                  <a:cs typeface="Arial"/>
                </a:rPr>
                <a:t>个 Python 文件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60030" y="5040630"/>
              <a:ext cx="3686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90510" y="5585460"/>
              <a:ext cx="1190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0C4DE"/>
                  </a:solidFill>
                  <a:latin typeface="Arial"/>
                  <a:ea typeface="Microsoft YaHei"/>
                  <a:cs typeface="Arial"/>
                </a:rPr>
                <a:t>类 FHX 元素支持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31780" y="5040630"/>
              <a:ext cx="3686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62260" y="5585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0C4DE"/>
                  </a:solidFill>
                  <a:latin typeface="Arial"/>
                  <a:ea typeface="Microsoft YaHei"/>
                  <a:cs typeface="Arial"/>
                </a:rPr>
                <a:t>外部依赖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51522" y="6578441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0223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DeltaV FHX Nameset Editor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A5C"/>
              </a:gs>
              <a:gs pos="100000">
                <a:srgbClr val="2D5A87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90500" y="-285750"/>
            <a:ext cx="3429000" cy="3429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382000" y="3143250"/>
            <a:ext cx="4191000" cy="4191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143500" y="247650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267004" y="1800225"/>
            <a:ext cx="1657993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8810" y="29022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0C4DE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8" name="Rectangle 8"/>
          <p:cNvSpPr/>
          <p:nvPr/>
        </p:nvSpPr>
        <p:spPr>
          <a:xfrm>
            <a:off x="3714750" y="3429000"/>
            <a:ext cx="47625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412551" y="3775710"/>
            <a:ext cx="33668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A8C8"/>
                </a:solidFill>
                <a:latin typeface="Arial"/>
                <a:ea typeface="Microsoft YaHei"/>
                <a:cs typeface="Arial"/>
              </a:rPr>
              <a:t>Author: Jared.Ji (Jared.Ji@emerson.com)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20678" y="4109085"/>
            <a:ext cx="13506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A8C8"/>
                </a:solidFill>
                <a:latin typeface="Arial"/>
                <a:ea typeface="Microsoft YaHei"/>
                <a:cs typeface="Arial"/>
              </a:rPr>
              <a:t>Emerson Electric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45973" y="4553902"/>
            <a:ext cx="31000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BAE"/>
                </a:solidFill>
                <a:latin typeface="Arial"/>
                <a:ea typeface="Microsoft YaHei"/>
                <a:cs typeface="Arial"/>
              </a:rPr>
              <a:t>GitHub: mobosa/delta-v-fhx-nameset-editor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51435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